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2" r:id="rId3"/>
    <p:sldId id="270" r:id="rId4"/>
    <p:sldId id="271" r:id="rId5"/>
    <p:sldId id="277" r:id="rId6"/>
    <p:sldId id="278" r:id="rId7"/>
    <p:sldId id="267" r:id="rId8"/>
    <p:sldId id="274" r:id="rId9"/>
    <p:sldId id="27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0" dt="2026-09-28T18:25:10.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6381" autoAdjust="0"/>
  </p:normalViewPr>
  <p:slideViewPr>
    <p:cSldViewPr snapToGrid="0" snapToObjects="1">
      <p:cViewPr varScale="1">
        <p:scale>
          <a:sx n="75" d="100"/>
          <a:sy n="75" d="100"/>
        </p:scale>
        <p:origin x="19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7269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t>
            </a:r>
          </a:p>
          <a:p>
            <a:r>
              <a:rPr lang="en-US" dirty="0"/>
              <a:t>I am </a:t>
            </a:r>
            <a:r>
              <a:rPr lang="zh-TW" altLang="en-US" dirty="0"/>
              <a:t>誰誰誰</a:t>
            </a:r>
            <a:endParaRPr lang="en-US" altLang="zh-TW" dirty="0"/>
          </a:p>
          <a:p>
            <a:endParaRPr lang="en-US" dirty="0"/>
          </a:p>
          <a:p>
            <a:r>
              <a:rPr lang="en-US" dirty="0"/>
              <a:t>Today I'm presenting our project proposal</a:t>
            </a:r>
          </a:p>
          <a:p>
            <a:endParaRPr lang="en-US" dirty="0"/>
          </a:p>
          <a:p>
            <a:r>
              <a:rPr lang="en-US" dirty="0"/>
              <a:t>Our project is a distributed resource manager and job scheduler for lab computing. The idea is to treat several lab machines as one shared resource pool. Users submit jobs, and our scheduler decides when and where each job should run.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備忘稿版面配置區 2"/>
          <p:cNvSpPr>
            <a:spLocks noGrp="1"/>
          </p:cNvSpPr>
          <p:nvPr>
            <p:ph type="body" idx="1"/>
          </p:nvPr>
        </p:nvSpPr>
        <p:spPr>
          <a:xfrm>
            <a:off x="685800" y="5867400"/>
            <a:ext cx="5486400" cy="4800600"/>
          </a:xfrm>
          <a:prstGeom prst="rect">
            <a:avLst/>
          </a:prstGeom>
        </p:spPr>
        <p:txBody>
          <a:bodyPr/>
          <a:lstStyle/>
          <a:p>
            <a:r>
              <a:rPr lang="en-US" altLang="zh-TW" dirty="0"/>
              <a:t>So this is our current method in our lab to allocate our Computing resources</a:t>
            </a:r>
          </a:p>
          <a:p>
            <a:endParaRPr lang="en-US" altLang="zh-TW" dirty="0"/>
          </a:p>
          <a:p>
            <a:r>
              <a:rPr lang="en-US" altLang="zh-TW" dirty="0"/>
              <a:t>We register in a unify excel sheet</a:t>
            </a:r>
          </a:p>
          <a:p>
            <a:r>
              <a:rPr lang="en-US" altLang="zh-TW" dirty="0"/>
              <a:t>And everyone orchestrate base on their urgency</a:t>
            </a:r>
          </a:p>
          <a:p>
            <a:endParaRPr lang="en-US" altLang="zh-TW" dirty="0"/>
          </a:p>
          <a:p>
            <a:r>
              <a:rPr lang="en-US" altLang="zh-TW" dirty="0"/>
              <a:t>There is a lot of resource waste because everyone wants to reserve machines, resulting in high communication costs when someone has an urgent job</a:t>
            </a:r>
            <a:endParaRPr lang="zh-TW" altLang="en-US" dirty="0"/>
          </a:p>
        </p:txBody>
      </p:sp>
    </p:spTree>
    <p:extLst>
      <p:ext uri="{BB962C8B-B14F-4D97-AF65-F5344CB8AC3E}">
        <p14:creationId xmlns:p14="http://schemas.microsoft.com/office/powerpoint/2010/main" val="3159456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our lab user needs to manually search for an available GPU while another machine stays idle.</a:t>
            </a:r>
          </a:p>
          <a:p>
            <a:endParaRPr lang="en-US" dirty="0"/>
          </a:p>
          <a:p>
            <a:r>
              <a:rPr lang="en-US" dirty="0"/>
              <a:t>This wastes resources and provides no common rule for priority or fairness. </a:t>
            </a:r>
          </a:p>
          <a:p>
            <a:endParaRPr lang="en-US" dirty="0"/>
          </a:p>
          <a:p>
            <a:r>
              <a:rPr lang="en-US" dirty="0"/>
              <a:t>Our goal is to manage these machines through one central scheduler.</a:t>
            </a:r>
          </a:p>
          <a:p>
            <a:r>
              <a:rPr lang="en-US" dirty="0"/>
              <a:t>But when we looked closer, we found that not all of our work fits the idea of submitting a job.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So we are designing a </a:t>
            </a:r>
            <a:r>
              <a:rPr lang="en-US" dirty="0" err="1">
                <a:ea typeface="Calibri"/>
                <a:cs typeface="Calibri"/>
              </a:rPr>
              <a:t>slurm</a:t>
            </a:r>
            <a:r>
              <a:rPr lang="en-US" dirty="0">
                <a:ea typeface="Calibri"/>
                <a:cs typeface="Calibri"/>
              </a:rPr>
              <a:t>-like system</a:t>
            </a:r>
          </a:p>
          <a:p>
            <a:r>
              <a:rPr lang="en-US" dirty="0">
                <a:ea typeface="Calibri"/>
                <a:cs typeface="Calibri"/>
              </a:rPr>
              <a:t>But we are facing some different problem</a:t>
            </a:r>
          </a:p>
          <a:p>
            <a:r>
              <a:rPr lang="en-US" dirty="0">
                <a:ea typeface="Calibri"/>
                <a:cs typeface="Calibri"/>
              </a:rPr>
              <a:t>Go back to our </a:t>
            </a:r>
            <a:r>
              <a:rPr lang="en-US" dirty="0" err="1">
                <a:ea typeface="Calibri"/>
                <a:cs typeface="Calibri"/>
              </a:rPr>
              <a:t>excell</a:t>
            </a:r>
            <a:r>
              <a:rPr lang="en-US" dirty="0">
                <a:ea typeface="Calibri"/>
                <a:cs typeface="Calibri"/>
              </a:rPr>
              <a:t> sheet</a:t>
            </a: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97764-848F-5EE7-ED69-4CD12F91C98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12620CB-ACFC-F85C-70FD-F44DD2E3E457}"/>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備忘稿版面配置區 2">
            <a:extLst>
              <a:ext uri="{FF2B5EF4-FFF2-40B4-BE49-F238E27FC236}">
                <a16:creationId xmlns:a16="http://schemas.microsoft.com/office/drawing/2014/main" id="{CE0C63F2-0603-1E0E-6D59-FFDF132F2FC9}"/>
              </a:ext>
            </a:extLst>
          </p:cNvPr>
          <p:cNvSpPr>
            <a:spLocks noGrp="1"/>
          </p:cNvSpPr>
          <p:nvPr>
            <p:ph type="body" idx="1"/>
          </p:nvPr>
        </p:nvSpPr>
        <p:spPr>
          <a:xfrm>
            <a:off x="685800" y="5867400"/>
            <a:ext cx="5486400" cy="4800600"/>
          </a:xfrm>
          <a:prstGeom prst="rect">
            <a:avLst/>
          </a:prstGeom>
        </p:spPr>
        <p:txBody>
          <a:bodyPr/>
          <a:lstStyle/>
          <a:p>
            <a:r>
              <a:rPr lang="en-US" dirty="0"/>
              <a:t>Why do people reserve whole machines on that Excel sheet? Because much of our work isn't a batch job.</a:t>
            </a:r>
          </a:p>
          <a:p>
            <a:endParaRPr lang="en-US" altLang="zh-TW" dirty="0">
              <a:ea typeface="新細明體"/>
              <a:cs typeface="Calibri"/>
            </a:endParaRPr>
          </a:p>
        </p:txBody>
      </p:sp>
    </p:spTree>
    <p:extLst>
      <p:ext uri="{BB962C8B-B14F-4D97-AF65-F5344CB8AC3E}">
        <p14:creationId xmlns:p14="http://schemas.microsoft.com/office/powerpoint/2010/main" val="2681005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425B-D741-CB1C-DEB2-C653674AF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8400D-5202-0C7B-A556-9067EE19EC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DDDCE-2E9E-6AFB-C942-5B3738A85126}"/>
              </a:ext>
            </a:extLst>
          </p:cNvPr>
          <p:cNvSpPr>
            <a:spLocks noGrp="1"/>
          </p:cNvSpPr>
          <p:nvPr>
            <p:ph type="body" idx="1"/>
          </p:nvPr>
        </p:nvSpPr>
        <p:spPr/>
        <p:txBody>
          <a:bodyPr/>
          <a:lstStyle/>
          <a:p>
            <a:r>
              <a:rPr lang="en-US" dirty="0"/>
              <a:t>We have 3 types of typical job</a:t>
            </a:r>
            <a:endParaRPr lang="en-US" dirty="0">
              <a:solidFill>
                <a:srgbClr val="444444"/>
              </a:solidFill>
              <a:ea typeface="Calibri" panose="020F0502020204030204"/>
              <a:cs typeface="Calibri" panose="020F0502020204030204"/>
            </a:endParaRPr>
          </a:p>
          <a:p>
            <a:r>
              <a:rPr lang="en-US" dirty="0"/>
              <a:t>Model training/small test from AI  coding tools/Agent’s large langue model call</a:t>
            </a:r>
            <a:endParaRPr lang="en-US" dirty="0">
              <a:solidFill>
                <a:srgbClr val="444444"/>
              </a:solidFill>
            </a:endParaRPr>
          </a:p>
          <a:p>
            <a:endParaRPr lang="en-US" dirty="0">
              <a:solidFill>
                <a:srgbClr val="444444"/>
              </a:solidFill>
            </a:endParaRPr>
          </a:p>
          <a:p>
            <a:r>
              <a:rPr lang="en-US" dirty="0"/>
              <a:t>Training runs hold a GPU for hours or days, so they can fit in a normal priority queue.</a:t>
            </a:r>
          </a:p>
          <a:p>
            <a:endParaRPr lang="en-US" dirty="0">
              <a:ea typeface="Calibri"/>
              <a:cs typeface="Calibri"/>
            </a:endParaRPr>
          </a:p>
          <a:p>
            <a:r>
              <a:rPr lang="en-US" dirty="0"/>
              <a:t>Quick tests from AI coding tools re-run every few seconds, so they will need a fast lane with a strict time limit.</a:t>
            </a:r>
          </a:p>
          <a:p>
            <a:endParaRPr lang="en-US" dirty="0">
              <a:ea typeface="Calibri"/>
              <a:cs typeface="Calibri"/>
            </a:endParaRPr>
          </a:p>
          <a:p>
            <a:r>
              <a:rPr lang="en-US" dirty="0"/>
              <a:t>Agent development just needs to call a model, not hold a GPU — so we spin up a shared model service on demand, and it hands the GPU back to training when idle.</a:t>
            </a:r>
          </a:p>
          <a:p>
            <a:endParaRPr lang="en-US" dirty="0"/>
          </a:p>
          <a:p>
            <a:r>
              <a:rPr lang="en-US" dirty="0"/>
              <a:t>So there is One scheduler, one pool, three kinds of work.</a:t>
            </a:r>
            <a:endParaRPr lang="en-US" dirty="0">
              <a:ea typeface="Calibri"/>
              <a:cs typeface="Calibri"/>
            </a:endParaRPr>
          </a:p>
          <a:p>
            <a:endParaRPr lang="en-US" dirty="0">
              <a:solidFill>
                <a:srgbClr val="000000"/>
              </a:solidFill>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66F2481E-310F-B65A-2489-A15FAD44F65B}"/>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67427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that actually runs, in three parts.</a:t>
            </a:r>
          </a:p>
          <a:p>
            <a:endParaRPr lang="en-US" dirty="0"/>
          </a:p>
          <a:p>
            <a:r>
              <a:rPr lang="en-US" dirty="0"/>
              <a:t>batch jobs come through the CLI into a queue;</a:t>
            </a:r>
            <a:endParaRPr lang="en-US" dirty="0">
              <a:ea typeface="Calibri"/>
              <a:cs typeface="Calibri"/>
            </a:endParaRPr>
          </a:p>
          <a:p>
            <a:r>
              <a:rPr lang="en-US" dirty="0"/>
              <a:t>quick tests request a short-lived warm worker through an API and stream output back on that same worker;</a:t>
            </a:r>
            <a:endParaRPr lang="en-US" dirty="0">
              <a:ea typeface="Calibri"/>
              <a:cs typeface="Calibri"/>
            </a:endParaRPr>
          </a:p>
          <a:p>
            <a:r>
              <a:rPr lang="en-US" dirty="0"/>
              <a:t>agents talk to an inference gateway, which routes straight to a ready model if one's already up.</a:t>
            </a:r>
            <a:endParaRPr lang="en-US" dirty="0">
              <a:ea typeface="Calibri"/>
              <a:cs typeface="Calibri"/>
            </a:endParaRPr>
          </a:p>
          <a:p>
            <a:endParaRPr lang="en-US" dirty="0"/>
          </a:p>
          <a:p>
            <a:r>
              <a:rPr lang="en-US" dirty="0"/>
              <a:t>All these three lead into </a:t>
            </a:r>
            <a:r>
              <a:rPr lang="en-US" b="1" dirty="0"/>
              <a:t>one shared brain</a:t>
            </a:r>
            <a:r>
              <a:rPr lang="en-US" dirty="0"/>
              <a:t> — the scheduler and lifecycle manager.</a:t>
            </a:r>
          </a:p>
          <a:p>
            <a:r>
              <a:rPr lang="en-US" dirty="0"/>
              <a:t>It handles resource admission, batch priority and backfilling, test-lease timeouts, and reclaiming idle model servers.</a:t>
            </a:r>
          </a:p>
          <a:p>
            <a:endParaRPr lang="en-US" dirty="0">
              <a:ea typeface="Calibri"/>
              <a:cs typeface="Calibri"/>
            </a:endParaRPr>
          </a:p>
          <a:p>
            <a:r>
              <a:rPr lang="en-US" dirty="0"/>
              <a:t>Underneath is </a:t>
            </a:r>
            <a:r>
              <a:rPr lang="en-US" b="1" dirty="0"/>
              <a:t>one shared pool</a:t>
            </a:r>
            <a:r>
              <a:rPr lang="en-US" dirty="0"/>
              <a:t> of worker nodes</a:t>
            </a:r>
            <a:endParaRPr lang="en-US" dirty="0">
              <a:ea typeface="Calibri"/>
              <a:cs typeface="Calibri"/>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training runs, the main question is scheduling. We will support resource-aware placement, priority, fairness, and backfilling.</a:t>
            </a:r>
          </a:p>
          <a:p>
            <a:endParaRPr lang="en-US" dirty="0"/>
          </a:p>
          <a:p>
            <a:r>
              <a:rPr lang="en-US" dirty="0"/>
              <a:t>For example, if a large job cannot run yet, a smaller job may use the available resources first, as long as it does not</a:t>
            </a:r>
            <a:r>
              <a:rPr lang="zh-TW" altLang="en-US" dirty="0"/>
              <a:t> </a:t>
            </a:r>
            <a:r>
              <a:rPr lang="en-US" dirty="0"/>
              <a:t>delay the larger job.</a:t>
            </a:r>
          </a:p>
          <a:p>
            <a:r>
              <a:rPr lang="en-US" dirty="0"/>
              <a:t>In our lab, that means a big job waiting for a large-memory GPU while a small job runs on the smaller GPU.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here is what we will build.</a:t>
            </a:r>
          </a:p>
          <a:p>
            <a:r>
              <a:rPr lang="en-US" dirty="0"/>
              <a:t>The core is a central scheduler, a worker daemon on each machine, a way to submit jobs, and a dashboard.</a:t>
            </a:r>
          </a:p>
          <a:p>
            <a:r>
              <a:rPr lang="en-US" dirty="0"/>
              <a:t>On top of that, the same GPU pool serves all three kinds of work: training runs in a queue, quick tests go through a fast lane, and agent developers get a shared model service.</a:t>
            </a:r>
          </a:p>
          <a:p>
            <a:r>
              <a:rPr lang="en-US" dirty="0"/>
              <a:t>Each job is isolated with cgroups, and heartbeats let us notice when a machine goes down.</a:t>
            </a:r>
          </a:p>
          <a:p>
            <a:r>
              <a:rPr lang="en-US" dirty="0"/>
              <a:t>In the final demo, we will show jobs arriving live, a fast-lane test, a model service starting on demand, and a worker failure.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44A7C"/>
          </a:solidFill>
          <a:ln w="12700">
            <a:solidFill>
              <a:srgbClr val="244A7C"/>
            </a:solidFill>
            <a:prstDash val="solid"/>
          </a:ln>
        </p:spPr>
      </p:sp>
      <p:sp>
        <p:nvSpPr>
          <p:cNvPr id="3" name="Text 1"/>
          <p:cNvSpPr/>
          <p:nvPr/>
        </p:nvSpPr>
        <p:spPr>
          <a:xfrm>
            <a:off x="502920" y="6510528"/>
            <a:ext cx="4754880" cy="164592"/>
          </a:xfrm>
          <a:prstGeom prst="rect">
            <a:avLst/>
          </a:prstGeom>
          <a:noFill/>
          <a:ln/>
        </p:spPr>
        <p:txBody>
          <a:bodyPr wrap="square" lIns="0" tIns="0" rIns="0" bIns="0" rtlCol="0" anchor="ctr"/>
          <a:lstStyle/>
          <a:p>
            <a:pPr marL="0" indent="0">
              <a:buNone/>
            </a:pPr>
            <a:r>
              <a:rPr lang="en-US" sz="900" dirty="0">
                <a:solidFill>
                  <a:srgbClr val="6B7280"/>
                </a:solidFill>
                <a:latin typeface="Aptos" pitchFamily="34" charset="0"/>
                <a:ea typeface="Aptos" pitchFamily="34" charset="-122"/>
                <a:cs typeface="Aptos" pitchFamily="34" charset="-120"/>
              </a:rPr>
              <a:t>Operating System Term Project | Fall 2026</a:t>
            </a:r>
            <a:endParaRPr lang="en-US" sz="90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109728"/>
            <a:ext cx="12191695" cy="6400800"/>
          </a:xfrm>
          <a:prstGeom prst="rect">
            <a:avLst/>
          </a:prstGeom>
          <a:solidFill>
            <a:srgbClr val="F7F8FA"/>
          </a:solidFill>
          <a:ln w="12700">
            <a:solidFill>
              <a:srgbClr val="F7F8FA"/>
            </a:solidFill>
            <a:prstDash val="solid"/>
          </a:ln>
        </p:spPr>
        <p:txBody>
          <a:bodyPr/>
          <a:lstStyle/>
          <a:p>
            <a:endParaRPr lang="en-US"/>
          </a:p>
        </p:txBody>
      </p:sp>
      <p:sp>
        <p:nvSpPr>
          <p:cNvPr id="3" name="Shape 1"/>
          <p:cNvSpPr/>
          <p:nvPr/>
        </p:nvSpPr>
        <p:spPr>
          <a:xfrm>
            <a:off x="658368" y="960120"/>
            <a:ext cx="10881360" cy="4343400"/>
          </a:xfrm>
          <a:prstGeom prst="roundRect">
            <a:avLst>
              <a:gd name="adj" fmla="val 2526"/>
            </a:avLst>
          </a:prstGeom>
          <a:solidFill>
            <a:srgbClr val="FFFFFF"/>
          </a:solidFill>
          <a:ln w="15240">
            <a:solidFill>
              <a:srgbClr val="E1E6ED"/>
            </a:solidFill>
            <a:prstDash val="solid"/>
          </a:ln>
          <a:effectLst>
            <a:outerShdw blurRad="25400" dist="50800" dir="2700000" algn="bl" rotWithShape="0">
              <a:srgbClr val="BCC4CE">
                <a:alpha val="18000"/>
              </a:srgbClr>
            </a:outerShdw>
          </a:effectLst>
        </p:spPr>
        <p:txBody>
          <a:bodyPr/>
          <a:lstStyle/>
          <a:p>
            <a:endParaRPr lang="en-US"/>
          </a:p>
        </p:txBody>
      </p:sp>
      <p:sp>
        <p:nvSpPr>
          <p:cNvPr id="4" name="Shape 2"/>
          <p:cNvSpPr/>
          <p:nvPr/>
        </p:nvSpPr>
        <p:spPr>
          <a:xfrm>
            <a:off x="896112" y="1252728"/>
            <a:ext cx="2377440" cy="301752"/>
          </a:xfrm>
          <a:prstGeom prst="roundRect">
            <a:avLst>
              <a:gd name="adj" fmla="val 18182"/>
            </a:avLst>
          </a:prstGeom>
          <a:solidFill>
            <a:srgbClr val="244A7C"/>
          </a:solidFill>
          <a:ln w="12700">
            <a:solidFill>
              <a:srgbClr val="244A7C"/>
            </a:solidFill>
            <a:prstDash val="solid"/>
          </a:ln>
        </p:spPr>
        <p:txBody>
          <a:bodyPr/>
          <a:lstStyle/>
          <a:p>
            <a:endParaRPr lang="en-US"/>
          </a:p>
        </p:txBody>
      </p:sp>
      <p:sp>
        <p:nvSpPr>
          <p:cNvPr id="5" name="Text 3"/>
          <p:cNvSpPr/>
          <p:nvPr/>
        </p:nvSpPr>
        <p:spPr>
          <a:xfrm>
            <a:off x="969264" y="1303020"/>
            <a:ext cx="2231136" cy="18288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OPERATING SYSTEM TERM PROJECT</a:t>
            </a:r>
            <a:endParaRPr lang="en-US" sz="1000" dirty="0"/>
          </a:p>
        </p:txBody>
      </p:sp>
      <p:sp>
        <p:nvSpPr>
          <p:cNvPr id="6" name="Text 4"/>
          <p:cNvSpPr/>
          <p:nvPr/>
        </p:nvSpPr>
        <p:spPr>
          <a:xfrm>
            <a:off x="896112" y="1755648"/>
            <a:ext cx="7132320" cy="1234440"/>
          </a:xfrm>
          <a:prstGeom prst="rect">
            <a:avLst/>
          </a:prstGeom>
          <a:noFill/>
          <a:ln/>
        </p:spPr>
        <p:txBody>
          <a:bodyPr wrap="square" lIns="0" tIns="0" rIns="0" bIns="0" rtlCol="0" anchor="ctr"/>
          <a:lstStyle/>
          <a:p>
            <a:pPr marL="0" indent="0">
              <a:buNone/>
            </a:pPr>
            <a:r>
              <a:rPr lang="en-US" sz="3400" b="1" dirty="0">
                <a:solidFill>
                  <a:srgbClr val="1F2937"/>
                </a:solidFill>
                <a:latin typeface="Aptos Display" pitchFamily="34" charset="0"/>
                <a:ea typeface="Aptos Display" pitchFamily="34" charset="-122"/>
                <a:cs typeface="Aptos Display" pitchFamily="34" charset="-120"/>
              </a:rPr>
              <a:t>A Distributed Resource Manager</a:t>
            </a:r>
            <a:endParaRPr lang="en-US" sz="3400" dirty="0"/>
          </a:p>
          <a:p>
            <a:pPr marL="0" indent="0">
              <a:buNone/>
            </a:pPr>
            <a:r>
              <a:rPr lang="en-US" sz="3400" b="1" dirty="0">
                <a:solidFill>
                  <a:srgbClr val="1F2937"/>
                </a:solidFill>
                <a:latin typeface="Aptos Display" pitchFamily="34" charset="0"/>
                <a:ea typeface="Aptos Display" pitchFamily="34" charset="-122"/>
                <a:cs typeface="Aptos Display" pitchFamily="34" charset="-120"/>
              </a:rPr>
              <a:t>and Job Scheduler</a:t>
            </a:r>
            <a:endParaRPr lang="en-US" sz="3400" dirty="0"/>
          </a:p>
        </p:txBody>
      </p:sp>
      <p:sp>
        <p:nvSpPr>
          <p:cNvPr id="7" name="Text 5"/>
          <p:cNvSpPr/>
          <p:nvPr/>
        </p:nvSpPr>
        <p:spPr>
          <a:xfrm>
            <a:off x="905256" y="3063240"/>
            <a:ext cx="6858000" cy="411480"/>
          </a:xfrm>
          <a:prstGeom prst="rect">
            <a:avLst/>
          </a:prstGeom>
          <a:noFill/>
          <a:ln/>
        </p:spPr>
        <p:txBody>
          <a:bodyPr wrap="square" lIns="0" tIns="0" rIns="0" bIns="0" rtlCol="0" anchor="ctr"/>
          <a:lstStyle/>
          <a:p>
            <a:pPr marL="0" indent="0">
              <a:buNone/>
            </a:pPr>
            <a:r>
              <a:rPr lang="en-US" sz="2000" dirty="0">
                <a:solidFill>
                  <a:srgbClr val="3A67A5"/>
                </a:solidFill>
                <a:latin typeface="Aptos" pitchFamily="34" charset="0"/>
                <a:ea typeface="Aptos" pitchFamily="34" charset="-122"/>
                <a:cs typeface="Aptos" pitchFamily="34" charset="-120"/>
              </a:rPr>
              <a:t>for Heterogeneous Lab Computing</a:t>
            </a:r>
            <a:endParaRPr lang="en-US" sz="2000" dirty="0"/>
          </a:p>
        </p:txBody>
      </p:sp>
      <p:sp>
        <p:nvSpPr>
          <p:cNvPr id="8" name="Text 6"/>
          <p:cNvSpPr/>
          <p:nvPr/>
        </p:nvSpPr>
        <p:spPr>
          <a:xfrm>
            <a:off x="905256" y="3712464"/>
            <a:ext cx="6949440" cy="658368"/>
          </a:xfrm>
          <a:prstGeom prst="rect">
            <a:avLst/>
          </a:prstGeom>
          <a:noFill/>
          <a:ln/>
        </p:spPr>
        <p:txBody>
          <a:bodyPr wrap="square" lIns="0" tIns="0" rIns="0" bIns="0" rtlCol="0" anchor="ctr"/>
          <a:lstStyle/>
          <a:p>
            <a:pPr marL="0" indent="0">
              <a:buNone/>
            </a:pPr>
            <a:r>
              <a:rPr lang="en-US" sz="1700" dirty="0">
                <a:solidFill>
                  <a:srgbClr val="6B7280"/>
                </a:solidFill>
                <a:latin typeface="Aptos" pitchFamily="34" charset="0"/>
                <a:ea typeface="Aptos" pitchFamily="34" charset="-122"/>
                <a:cs typeface="Aptos" pitchFamily="34" charset="-120"/>
              </a:rPr>
              <a:t>Treat multiple lab machines as one shared pool of CPU, memory, and GPU resources.</a:t>
            </a:r>
            <a:endParaRPr lang="en-US" sz="1700" dirty="0"/>
          </a:p>
        </p:txBody>
      </p:sp>
      <p:sp>
        <p:nvSpPr>
          <p:cNvPr id="9" name="Shape 7"/>
          <p:cNvSpPr/>
          <p:nvPr/>
        </p:nvSpPr>
        <p:spPr>
          <a:xfrm>
            <a:off x="8321040" y="1600200"/>
            <a:ext cx="2468880" cy="822960"/>
          </a:xfrm>
          <a:prstGeom prst="roundRect">
            <a:avLst>
              <a:gd name="adj" fmla="val 8889"/>
            </a:avLst>
          </a:prstGeom>
          <a:solidFill>
            <a:srgbClr val="FFF5E3"/>
          </a:solidFill>
          <a:ln w="15240">
            <a:solidFill>
              <a:srgbClr val="E4C48E"/>
            </a:solidFill>
            <a:prstDash val="solid"/>
          </a:ln>
        </p:spPr>
        <p:txBody>
          <a:bodyPr/>
          <a:lstStyle/>
          <a:p>
            <a:endParaRPr lang="en-US"/>
          </a:p>
        </p:txBody>
      </p:sp>
      <p:sp>
        <p:nvSpPr>
          <p:cNvPr id="10" name="Text 8"/>
          <p:cNvSpPr/>
          <p:nvPr/>
        </p:nvSpPr>
        <p:spPr>
          <a:xfrm>
            <a:off x="8485632" y="1728216"/>
            <a:ext cx="2139696" cy="274320"/>
          </a:xfrm>
          <a:prstGeom prst="rect">
            <a:avLst/>
          </a:prstGeom>
          <a:noFill/>
          <a:ln/>
        </p:spPr>
        <p:txBody>
          <a:bodyPr wrap="square" lIns="0" tIns="0" rIns="0" bIns="0" rtlCol="0" anchor="ctr"/>
          <a:lstStyle/>
          <a:p>
            <a:pPr marL="0" indent="0">
              <a:buNone/>
            </a:pPr>
            <a:r>
              <a:rPr lang="en-US" sz="1600" b="1" dirty="0">
                <a:solidFill>
                  <a:srgbClr val="B9770E"/>
                </a:solidFill>
                <a:latin typeface="Aptos Display" pitchFamily="34" charset="0"/>
                <a:ea typeface="Aptos Display" pitchFamily="34" charset="-122"/>
                <a:cs typeface="Aptos Display" pitchFamily="34" charset="-120"/>
              </a:rPr>
              <a:t>Submit Job</a:t>
            </a:r>
            <a:endParaRPr lang="en-US" sz="1600" dirty="0"/>
          </a:p>
        </p:txBody>
      </p:sp>
      <p:sp>
        <p:nvSpPr>
          <p:cNvPr id="11" name="Text 9"/>
          <p:cNvSpPr/>
          <p:nvPr/>
        </p:nvSpPr>
        <p:spPr>
          <a:xfrm>
            <a:off x="8485632" y="2075688"/>
            <a:ext cx="2139696" cy="21945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CPU: 8   RAM: 32 GB</a:t>
            </a:r>
            <a:endParaRPr lang="en-US" sz="1250" dirty="0"/>
          </a:p>
          <a:p>
            <a:pPr marL="0" indent="0">
              <a:buNone/>
            </a:pPr>
            <a:r>
              <a:rPr lang="en-US" sz="1250" dirty="0">
                <a:solidFill>
                  <a:srgbClr val="1F2937"/>
                </a:solidFill>
                <a:latin typeface="Aptos" pitchFamily="34" charset="0"/>
                <a:ea typeface="Aptos" pitchFamily="34" charset="-122"/>
                <a:cs typeface="Aptos" pitchFamily="34" charset="-120"/>
              </a:rPr>
              <a:t>GPU: 1</a:t>
            </a:r>
            <a:endParaRPr lang="en-US" sz="1250" dirty="0"/>
          </a:p>
        </p:txBody>
      </p:sp>
      <p:sp>
        <p:nvSpPr>
          <p:cNvPr id="12" name="Shape 10"/>
          <p:cNvSpPr/>
          <p:nvPr/>
        </p:nvSpPr>
        <p:spPr>
          <a:xfrm>
            <a:off x="8321040" y="2880360"/>
            <a:ext cx="2468880" cy="822960"/>
          </a:xfrm>
          <a:prstGeom prst="roundRect">
            <a:avLst>
              <a:gd name="adj" fmla="val 8889"/>
            </a:avLst>
          </a:prstGeom>
          <a:solidFill>
            <a:srgbClr val="EAF1FB"/>
          </a:solidFill>
          <a:ln w="15240">
            <a:solidFill>
              <a:srgbClr val="AAC0E3"/>
            </a:solidFill>
            <a:prstDash val="solid"/>
          </a:ln>
        </p:spPr>
        <p:txBody>
          <a:bodyPr/>
          <a:lstStyle/>
          <a:p>
            <a:endParaRPr lang="en-US"/>
          </a:p>
        </p:txBody>
      </p:sp>
      <p:sp>
        <p:nvSpPr>
          <p:cNvPr id="13" name="Text 11"/>
          <p:cNvSpPr/>
          <p:nvPr/>
        </p:nvSpPr>
        <p:spPr>
          <a:xfrm>
            <a:off x="8485632" y="3008376"/>
            <a:ext cx="2139696" cy="27432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Scheduler</a:t>
            </a:r>
            <a:endParaRPr lang="en-US" sz="1600" dirty="0"/>
          </a:p>
        </p:txBody>
      </p:sp>
      <p:sp>
        <p:nvSpPr>
          <p:cNvPr id="14" name="Text 12"/>
          <p:cNvSpPr/>
          <p:nvPr/>
        </p:nvSpPr>
        <p:spPr>
          <a:xfrm>
            <a:off x="8485632" y="3355848"/>
            <a:ext cx="2139696" cy="21945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Chooses when and where</a:t>
            </a:r>
            <a:endParaRPr lang="en-US" sz="1250" dirty="0"/>
          </a:p>
          <a:p>
            <a:pPr marL="0" indent="0">
              <a:buNone/>
            </a:pPr>
            <a:r>
              <a:rPr lang="en-US" sz="1250" dirty="0">
                <a:solidFill>
                  <a:srgbClr val="1F2937"/>
                </a:solidFill>
                <a:latin typeface="Aptos" pitchFamily="34" charset="0"/>
                <a:ea typeface="Aptos" pitchFamily="34" charset="-122"/>
                <a:cs typeface="Aptos" pitchFamily="34" charset="-120"/>
              </a:rPr>
              <a:t>the job runs</a:t>
            </a:r>
            <a:endParaRPr lang="en-US" sz="1250" dirty="0"/>
          </a:p>
        </p:txBody>
      </p:sp>
      <p:sp>
        <p:nvSpPr>
          <p:cNvPr id="15" name="Shape 13"/>
          <p:cNvSpPr/>
          <p:nvPr/>
        </p:nvSpPr>
        <p:spPr>
          <a:xfrm>
            <a:off x="8321040" y="4160520"/>
            <a:ext cx="2468880" cy="822960"/>
          </a:xfrm>
          <a:prstGeom prst="roundRect">
            <a:avLst>
              <a:gd name="adj" fmla="val 8889"/>
            </a:avLst>
          </a:prstGeom>
          <a:solidFill>
            <a:srgbClr val="ECF7ED"/>
          </a:solidFill>
          <a:ln w="15240">
            <a:solidFill>
              <a:srgbClr val="AFD2B1"/>
            </a:solidFill>
            <a:prstDash val="solid"/>
          </a:ln>
        </p:spPr>
        <p:txBody>
          <a:bodyPr/>
          <a:lstStyle/>
          <a:p>
            <a:endParaRPr lang="en-US"/>
          </a:p>
        </p:txBody>
      </p:sp>
      <p:sp>
        <p:nvSpPr>
          <p:cNvPr id="16" name="Text 14"/>
          <p:cNvSpPr/>
          <p:nvPr/>
        </p:nvSpPr>
        <p:spPr>
          <a:xfrm>
            <a:off x="8485632" y="4288536"/>
            <a:ext cx="2139696" cy="274320"/>
          </a:xfrm>
          <a:prstGeom prst="rect">
            <a:avLst/>
          </a:prstGeom>
          <a:noFill/>
          <a:ln/>
        </p:spPr>
        <p:txBody>
          <a:bodyPr wrap="square" lIns="0" tIns="0" rIns="0" bIns="0" rtlCol="0" anchor="ctr"/>
          <a:lstStyle/>
          <a:p>
            <a:pPr marL="0" indent="0">
              <a:buNone/>
            </a:pPr>
            <a:r>
              <a:rPr lang="en-US" sz="1600" b="1" dirty="0">
                <a:solidFill>
                  <a:srgbClr val="2F7D32"/>
                </a:solidFill>
                <a:latin typeface="Aptos Display" pitchFamily="34" charset="0"/>
                <a:ea typeface="Aptos Display" pitchFamily="34" charset="-122"/>
                <a:cs typeface="Aptos Display" pitchFamily="34" charset="-120"/>
              </a:rPr>
              <a:t>Worker Pool</a:t>
            </a:r>
            <a:endParaRPr lang="en-US" sz="1600" dirty="0"/>
          </a:p>
        </p:txBody>
      </p:sp>
      <p:sp>
        <p:nvSpPr>
          <p:cNvPr id="17" name="Text 15"/>
          <p:cNvSpPr/>
          <p:nvPr/>
        </p:nvSpPr>
        <p:spPr>
          <a:xfrm>
            <a:off x="8485632" y="4636008"/>
            <a:ext cx="2139696" cy="21945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Node A   Node B   Node C</a:t>
            </a:r>
            <a:endParaRPr lang="en-US" sz="1250" dirty="0"/>
          </a:p>
        </p:txBody>
      </p:sp>
      <p:sp>
        <p:nvSpPr>
          <p:cNvPr id="18" name="Shape 16"/>
          <p:cNvSpPr/>
          <p:nvPr/>
        </p:nvSpPr>
        <p:spPr>
          <a:xfrm>
            <a:off x="9555480" y="2432304"/>
            <a:ext cx="0" cy="420624"/>
          </a:xfrm>
          <a:prstGeom prst="line">
            <a:avLst/>
          </a:prstGeom>
          <a:noFill/>
          <a:ln w="22860">
            <a:solidFill>
              <a:srgbClr val="6B7280"/>
            </a:solidFill>
            <a:prstDash val="solid"/>
            <a:headEnd type="none"/>
            <a:tailEnd type="triangle"/>
          </a:ln>
        </p:spPr>
        <p:txBody>
          <a:bodyPr/>
          <a:lstStyle/>
          <a:p>
            <a:endParaRPr lang="en-US"/>
          </a:p>
        </p:txBody>
      </p:sp>
      <p:sp>
        <p:nvSpPr>
          <p:cNvPr id="19" name="Shape 17"/>
          <p:cNvSpPr/>
          <p:nvPr/>
        </p:nvSpPr>
        <p:spPr>
          <a:xfrm>
            <a:off x="9555480" y="3712464"/>
            <a:ext cx="0" cy="420624"/>
          </a:xfrm>
          <a:prstGeom prst="line">
            <a:avLst/>
          </a:prstGeom>
          <a:noFill/>
          <a:ln w="22860">
            <a:solidFill>
              <a:srgbClr val="6B7280"/>
            </a:solidFill>
            <a:prstDash val="solid"/>
            <a:headEnd type="none"/>
            <a:tailEnd type="triangle"/>
          </a:ln>
        </p:spPr>
        <p:txBody>
          <a:bodyPr/>
          <a:lstStyle/>
          <a:p>
            <a:endParaRPr lang="en-US"/>
          </a:p>
        </p:txBody>
      </p:sp>
      <p:sp>
        <p:nvSpPr>
          <p:cNvPr id="20" name="Text 18"/>
          <p:cNvSpPr/>
          <p:nvPr/>
        </p:nvSpPr>
        <p:spPr>
          <a:xfrm>
            <a:off x="896112" y="4800600"/>
            <a:ext cx="7040880" cy="320040"/>
          </a:xfrm>
          <a:prstGeom prst="rect">
            <a:avLst/>
          </a:prstGeom>
          <a:noFill/>
          <a:ln/>
        </p:spPr>
        <p:txBody>
          <a:bodyPr wrap="square" lIns="0" tIns="0" rIns="0" bIns="0" rtlCol="0" anchor="ctr"/>
          <a:lstStyle/>
          <a:p>
            <a:pPr marL="0" indent="0">
              <a:buNone/>
            </a:pPr>
            <a:r>
              <a:rPr lang="en-US" sz="1250" dirty="0">
                <a:solidFill>
                  <a:srgbClr val="1F2937"/>
                </a:solidFill>
                <a:latin typeface="Microsoft JhengHei" pitchFamily="34" charset="0"/>
                <a:ea typeface="Microsoft JhengHei" pitchFamily="34" charset="-122"/>
                <a:cs typeface="Microsoft JhengHei" pitchFamily="34" charset="-120"/>
              </a:rPr>
              <a:t>614410111  張宸維   |   614410038  陳弘翔</a:t>
            </a:r>
            <a:endParaRPr lang="en-US" sz="12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2D814D60-BA22-424C-AC55-2F1EF6026335}"/>
              </a:ext>
            </a:extLst>
          </p:cNvPr>
          <p:cNvPicPr>
            <a:picLocks noChangeAspect="1"/>
          </p:cNvPicPr>
          <p:nvPr/>
        </p:nvPicPr>
        <p:blipFill>
          <a:blip r:embed="rId3"/>
          <a:stretch>
            <a:fillRect/>
          </a:stretch>
        </p:blipFill>
        <p:spPr>
          <a:xfrm>
            <a:off x="2005587" y="539077"/>
            <a:ext cx="8180826" cy="5779846"/>
          </a:xfrm>
          <a:prstGeom prst="rect">
            <a:avLst/>
          </a:prstGeom>
        </p:spPr>
      </p:pic>
    </p:spTree>
    <p:extLst>
      <p:ext uri="{BB962C8B-B14F-4D97-AF65-F5344CB8AC3E}">
        <p14:creationId xmlns:p14="http://schemas.microsoft.com/office/powerpoint/2010/main" val="1656228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84048"/>
            <a:ext cx="10972800" cy="438912"/>
          </a:xfrm>
          <a:prstGeom prst="rect">
            <a:avLst/>
          </a:prstGeom>
          <a:noFill/>
          <a:ln/>
        </p:spPr>
        <p:txBody>
          <a:bodyPr wrap="square" lIns="0" tIns="0" rIns="0" bIns="0" rtlCol="0" anchor="ctr"/>
          <a:lstStyle/>
          <a:p>
            <a:pPr marL="0" indent="0">
              <a:buNone/>
            </a:pPr>
            <a:r>
              <a:rPr lang="en-US" sz="2600" b="1" dirty="0">
                <a:solidFill>
                  <a:srgbClr val="1F2937"/>
                </a:solidFill>
                <a:latin typeface="Aptos Display" pitchFamily="34" charset="0"/>
                <a:ea typeface="Aptos Display" pitchFamily="34" charset="-122"/>
                <a:cs typeface="Aptos Display" pitchFamily="34" charset="-120"/>
              </a:rPr>
              <a:t>Why Do We Need a Lab Scheduler?</a:t>
            </a:r>
            <a:endParaRPr lang="en-US" sz="2600" dirty="0"/>
          </a:p>
        </p:txBody>
      </p:sp>
      <p:sp>
        <p:nvSpPr>
          <p:cNvPr id="3" name="Text 1"/>
          <p:cNvSpPr/>
          <p:nvPr/>
        </p:nvSpPr>
        <p:spPr>
          <a:xfrm>
            <a:off x="621792" y="841248"/>
            <a:ext cx="10789920" cy="274320"/>
          </a:xfrm>
          <a:prstGeom prst="rect">
            <a:avLst/>
          </a:prstGeom>
          <a:noFill/>
          <a:ln/>
        </p:spPr>
        <p:txBody>
          <a:bodyPr wrap="square" lIns="0" tIns="0" rIns="0" bIns="0" rtlCol="0" anchor="ctr"/>
          <a:lstStyle/>
          <a:p>
            <a:pPr marL="0" indent="0">
              <a:buNone/>
            </a:pPr>
            <a:r>
              <a:rPr lang="en-US" sz="1200" dirty="0">
                <a:solidFill>
                  <a:srgbClr val="6B7280"/>
                </a:solidFill>
                <a:latin typeface="Aptos" pitchFamily="34" charset="0"/>
                <a:ea typeface="Aptos" pitchFamily="34" charset="-122"/>
                <a:cs typeface="Aptos" pitchFamily="34" charset="-120"/>
              </a:rPr>
              <a:t>Small labs often own useful hardware, but resource use is still manual and fragmented.</a:t>
            </a:r>
            <a:endParaRPr lang="en-US" sz="1200" dirty="0"/>
          </a:p>
        </p:txBody>
      </p:sp>
      <p:sp>
        <p:nvSpPr>
          <p:cNvPr id="4" name="Shape 2"/>
          <p:cNvSpPr/>
          <p:nvPr/>
        </p:nvSpPr>
        <p:spPr>
          <a:xfrm>
            <a:off x="640080" y="1417320"/>
            <a:ext cx="3063240" cy="4251960"/>
          </a:xfrm>
          <a:prstGeom prst="roundRect">
            <a:avLst>
              <a:gd name="adj" fmla="val 2388"/>
            </a:avLst>
          </a:prstGeom>
          <a:solidFill>
            <a:srgbClr val="FFFFFF"/>
          </a:solidFill>
          <a:ln w="15240">
            <a:solidFill>
              <a:srgbClr val="D7DDE5"/>
            </a:solidFill>
            <a:prstDash val="solid"/>
          </a:ln>
          <a:effectLst>
            <a:outerShdw blurRad="19050" dist="50800" dir="2700000" algn="bl" rotWithShape="0">
              <a:srgbClr val="B9C0C8">
                <a:alpha val="18000"/>
              </a:srgbClr>
            </a:outerShdw>
          </a:effectLst>
        </p:spPr>
        <p:txBody>
          <a:bodyPr/>
          <a:lstStyle/>
          <a:p>
            <a:endParaRPr lang="en-US"/>
          </a:p>
        </p:txBody>
      </p:sp>
      <p:sp>
        <p:nvSpPr>
          <p:cNvPr id="5" name="Text 3"/>
          <p:cNvSpPr/>
          <p:nvPr/>
        </p:nvSpPr>
        <p:spPr>
          <a:xfrm>
            <a:off x="804672" y="1545336"/>
            <a:ext cx="2734056" cy="27432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Today: Manual Resource Hunting</a:t>
            </a:r>
            <a:endParaRPr lang="en-US" sz="1600" dirty="0"/>
          </a:p>
        </p:txBody>
      </p:sp>
      <p:sp>
        <p:nvSpPr>
          <p:cNvPr id="6" name="Shape 4"/>
          <p:cNvSpPr/>
          <p:nvPr/>
        </p:nvSpPr>
        <p:spPr>
          <a:xfrm>
            <a:off x="987552" y="2057400"/>
            <a:ext cx="2331720" cy="566928"/>
          </a:xfrm>
          <a:prstGeom prst="roundRect">
            <a:avLst>
              <a:gd name="adj" fmla="val 9677"/>
            </a:avLst>
          </a:prstGeom>
          <a:solidFill>
            <a:srgbClr val="FCEBEB"/>
          </a:solidFill>
          <a:ln w="12700">
            <a:solidFill>
              <a:srgbClr val="D7DDE5"/>
            </a:solidFill>
            <a:prstDash val="solid"/>
          </a:ln>
        </p:spPr>
        <p:txBody>
          <a:bodyPr/>
          <a:lstStyle/>
          <a:p>
            <a:endParaRPr lang="en-US"/>
          </a:p>
        </p:txBody>
      </p:sp>
      <p:sp>
        <p:nvSpPr>
          <p:cNvPr id="7" name="Text 5"/>
          <p:cNvSpPr/>
          <p:nvPr/>
        </p:nvSpPr>
        <p:spPr>
          <a:xfrm>
            <a:off x="1115568" y="2194560"/>
            <a:ext cx="960120" cy="182880"/>
          </a:xfrm>
          <a:prstGeom prst="rect">
            <a:avLst/>
          </a:prstGeom>
          <a:noFill/>
          <a:ln/>
        </p:spPr>
        <p:txBody>
          <a:bodyPr wrap="square" lIns="0" tIns="0" rIns="0" bIns="0" rtlCol="0" anchor="ctr"/>
          <a:lstStyle/>
          <a:p>
            <a:pPr marL="0" indent="0">
              <a:buNone/>
            </a:pPr>
            <a:r>
              <a:rPr lang="en-US" sz="1200" b="1" dirty="0">
                <a:solidFill>
                  <a:srgbClr val="1F2937"/>
                </a:solidFill>
              </a:rPr>
              <a:t>Machine A</a:t>
            </a:r>
            <a:endParaRPr lang="en-US" sz="1200" dirty="0"/>
          </a:p>
        </p:txBody>
      </p:sp>
      <p:sp>
        <p:nvSpPr>
          <p:cNvPr id="8" name="Text 6"/>
          <p:cNvSpPr/>
          <p:nvPr/>
        </p:nvSpPr>
        <p:spPr>
          <a:xfrm>
            <a:off x="2029968" y="2194560"/>
            <a:ext cx="1078992" cy="182880"/>
          </a:xfrm>
          <a:prstGeom prst="rect">
            <a:avLst/>
          </a:prstGeom>
          <a:noFill/>
          <a:ln/>
        </p:spPr>
        <p:txBody>
          <a:bodyPr wrap="square" lIns="0" tIns="0" rIns="0" bIns="0" rtlCol="0" anchor="ctr"/>
          <a:lstStyle/>
          <a:p>
            <a:pPr marL="0" indent="0" algn="r">
              <a:buNone/>
            </a:pPr>
            <a:r>
              <a:rPr lang="en-US" sz="1100" dirty="0">
                <a:solidFill>
                  <a:srgbClr val="A33A3A"/>
                </a:solidFill>
              </a:rPr>
              <a:t>GPU busy</a:t>
            </a:r>
            <a:endParaRPr lang="en-US" sz="1100" dirty="0"/>
          </a:p>
        </p:txBody>
      </p:sp>
      <p:sp>
        <p:nvSpPr>
          <p:cNvPr id="9" name="Shape 7"/>
          <p:cNvSpPr/>
          <p:nvPr/>
        </p:nvSpPr>
        <p:spPr>
          <a:xfrm>
            <a:off x="987552" y="2880360"/>
            <a:ext cx="2331720" cy="566928"/>
          </a:xfrm>
          <a:prstGeom prst="roundRect">
            <a:avLst>
              <a:gd name="adj" fmla="val 9677"/>
            </a:avLst>
          </a:prstGeom>
          <a:solidFill>
            <a:srgbClr val="ECF7ED"/>
          </a:solidFill>
          <a:ln w="12700">
            <a:solidFill>
              <a:srgbClr val="D7DDE5"/>
            </a:solidFill>
            <a:prstDash val="solid"/>
          </a:ln>
        </p:spPr>
        <p:txBody>
          <a:bodyPr/>
          <a:lstStyle/>
          <a:p>
            <a:endParaRPr lang="en-US"/>
          </a:p>
        </p:txBody>
      </p:sp>
      <p:sp>
        <p:nvSpPr>
          <p:cNvPr id="10" name="Text 8"/>
          <p:cNvSpPr/>
          <p:nvPr/>
        </p:nvSpPr>
        <p:spPr>
          <a:xfrm>
            <a:off x="1115568" y="3017520"/>
            <a:ext cx="960120" cy="182880"/>
          </a:xfrm>
          <a:prstGeom prst="rect">
            <a:avLst/>
          </a:prstGeom>
          <a:noFill/>
          <a:ln/>
        </p:spPr>
        <p:txBody>
          <a:bodyPr wrap="square" lIns="0" tIns="0" rIns="0" bIns="0" rtlCol="0" anchor="ctr"/>
          <a:lstStyle/>
          <a:p>
            <a:pPr marL="0" indent="0">
              <a:buNone/>
            </a:pPr>
            <a:r>
              <a:rPr lang="en-US" sz="1200" b="1" dirty="0">
                <a:solidFill>
                  <a:srgbClr val="1F2937"/>
                </a:solidFill>
              </a:rPr>
              <a:t>Machine B</a:t>
            </a:r>
            <a:endParaRPr lang="en-US" sz="1200" dirty="0"/>
          </a:p>
        </p:txBody>
      </p:sp>
      <p:sp>
        <p:nvSpPr>
          <p:cNvPr id="11" name="Text 9"/>
          <p:cNvSpPr/>
          <p:nvPr/>
        </p:nvSpPr>
        <p:spPr>
          <a:xfrm>
            <a:off x="2029968" y="3017520"/>
            <a:ext cx="1078992" cy="182880"/>
          </a:xfrm>
          <a:prstGeom prst="rect">
            <a:avLst/>
          </a:prstGeom>
          <a:noFill/>
          <a:ln/>
        </p:spPr>
        <p:txBody>
          <a:bodyPr wrap="square" lIns="0" tIns="0" rIns="0" bIns="0" rtlCol="0" anchor="ctr"/>
          <a:lstStyle/>
          <a:p>
            <a:pPr marL="0" indent="0" algn="r">
              <a:buNone/>
            </a:pPr>
            <a:r>
              <a:rPr lang="en-US" sz="1100" dirty="0">
                <a:solidFill>
                  <a:srgbClr val="2F7D32"/>
                </a:solidFill>
              </a:rPr>
              <a:t>mostly idle</a:t>
            </a:r>
            <a:endParaRPr lang="en-US" sz="1100" dirty="0"/>
          </a:p>
        </p:txBody>
      </p:sp>
      <p:sp>
        <p:nvSpPr>
          <p:cNvPr id="12" name="Shape 10"/>
          <p:cNvSpPr/>
          <p:nvPr/>
        </p:nvSpPr>
        <p:spPr>
          <a:xfrm>
            <a:off x="987552" y="3703320"/>
            <a:ext cx="2331720" cy="566928"/>
          </a:xfrm>
          <a:prstGeom prst="roundRect">
            <a:avLst>
              <a:gd name="adj" fmla="val 9677"/>
            </a:avLst>
          </a:prstGeom>
          <a:solidFill>
            <a:srgbClr val="EAF1FB"/>
          </a:solidFill>
          <a:ln w="12700">
            <a:solidFill>
              <a:srgbClr val="D7DDE5"/>
            </a:solidFill>
            <a:prstDash val="solid"/>
          </a:ln>
        </p:spPr>
        <p:txBody>
          <a:bodyPr/>
          <a:lstStyle/>
          <a:p>
            <a:endParaRPr lang="en-US"/>
          </a:p>
        </p:txBody>
      </p:sp>
      <p:sp>
        <p:nvSpPr>
          <p:cNvPr id="13" name="Text 11"/>
          <p:cNvSpPr/>
          <p:nvPr/>
        </p:nvSpPr>
        <p:spPr>
          <a:xfrm>
            <a:off x="1115568" y="3840480"/>
            <a:ext cx="960120" cy="182880"/>
          </a:xfrm>
          <a:prstGeom prst="rect">
            <a:avLst/>
          </a:prstGeom>
          <a:noFill/>
          <a:ln/>
        </p:spPr>
        <p:txBody>
          <a:bodyPr wrap="square" lIns="0" tIns="0" rIns="0" bIns="0" rtlCol="0" anchor="ctr"/>
          <a:lstStyle/>
          <a:p>
            <a:pPr marL="0" indent="0">
              <a:buNone/>
            </a:pPr>
            <a:r>
              <a:rPr lang="en-US" sz="1200" b="1" dirty="0">
                <a:solidFill>
                  <a:srgbClr val="1F2937"/>
                </a:solidFill>
              </a:rPr>
              <a:t>Machine C</a:t>
            </a:r>
            <a:endParaRPr lang="en-US" sz="1200" dirty="0"/>
          </a:p>
        </p:txBody>
      </p:sp>
      <p:sp>
        <p:nvSpPr>
          <p:cNvPr id="14" name="Text 12"/>
          <p:cNvSpPr/>
          <p:nvPr/>
        </p:nvSpPr>
        <p:spPr>
          <a:xfrm>
            <a:off x="2029968" y="3840480"/>
            <a:ext cx="1078992" cy="182880"/>
          </a:xfrm>
          <a:prstGeom prst="rect">
            <a:avLst/>
          </a:prstGeom>
          <a:noFill/>
          <a:ln/>
        </p:spPr>
        <p:txBody>
          <a:bodyPr wrap="square" lIns="0" tIns="0" rIns="0" bIns="0" rtlCol="0" anchor="ctr"/>
          <a:lstStyle/>
          <a:p>
            <a:pPr marL="0" indent="0" algn="r">
              <a:buNone/>
            </a:pPr>
            <a:r>
              <a:rPr lang="en-US" sz="1100" dirty="0">
                <a:solidFill>
                  <a:srgbClr val="244A7C"/>
                </a:solidFill>
              </a:rPr>
              <a:t>RAM available</a:t>
            </a:r>
            <a:endParaRPr lang="en-US" sz="1100" dirty="0"/>
          </a:p>
        </p:txBody>
      </p:sp>
      <p:sp>
        <p:nvSpPr>
          <p:cNvPr id="15" name="Text 13"/>
          <p:cNvSpPr/>
          <p:nvPr/>
        </p:nvSpPr>
        <p:spPr>
          <a:xfrm>
            <a:off x="987552" y="4709160"/>
            <a:ext cx="2331720" cy="594360"/>
          </a:xfrm>
          <a:prstGeom prst="rect">
            <a:avLst/>
          </a:prstGeom>
          <a:noFill/>
          <a:ln/>
        </p:spPr>
        <p:txBody>
          <a:bodyPr wrap="square" lIns="0" tIns="0" rIns="0" bIns="0" rtlCol="0" anchor="ctr"/>
          <a:lstStyle/>
          <a:p>
            <a:pPr marL="0" indent="0" algn="ctr">
              <a:buNone/>
            </a:pPr>
            <a:r>
              <a:rPr lang="en-US" sz="1300" dirty="0">
                <a:solidFill>
                  <a:srgbClr val="6B7280"/>
                </a:solidFill>
              </a:rPr>
              <a:t>Users manually SSH into machines</a:t>
            </a:r>
            <a:endParaRPr lang="en-US" sz="1300" dirty="0"/>
          </a:p>
          <a:p>
            <a:pPr marL="0" indent="0" algn="ctr">
              <a:buNone/>
            </a:pPr>
            <a:r>
              <a:rPr lang="en-US" sz="1300" dirty="0">
                <a:solidFill>
                  <a:srgbClr val="6B7280"/>
                </a:solidFill>
              </a:rPr>
              <a:t>and search for free resources.</a:t>
            </a:r>
            <a:endParaRPr lang="en-US" sz="1300" dirty="0"/>
          </a:p>
        </p:txBody>
      </p:sp>
      <p:sp>
        <p:nvSpPr>
          <p:cNvPr id="16" name="Shape 14"/>
          <p:cNvSpPr/>
          <p:nvPr/>
        </p:nvSpPr>
        <p:spPr>
          <a:xfrm>
            <a:off x="4023360" y="1417320"/>
            <a:ext cx="2423160" cy="1143000"/>
          </a:xfrm>
          <a:prstGeom prst="roundRect">
            <a:avLst>
              <a:gd name="adj" fmla="val 6400"/>
            </a:avLst>
          </a:prstGeom>
          <a:solidFill>
            <a:srgbClr val="FFF5E3"/>
          </a:solidFill>
          <a:ln w="15240">
            <a:solidFill>
              <a:srgbClr val="E9D0A4"/>
            </a:solidFill>
            <a:prstDash val="solid"/>
          </a:ln>
          <a:effectLst>
            <a:outerShdw blurRad="19050" dist="50800" dir="2700000" algn="bl" rotWithShape="0">
              <a:srgbClr val="B9C0C8">
                <a:alpha val="18000"/>
              </a:srgbClr>
            </a:outerShdw>
          </a:effectLst>
        </p:spPr>
        <p:txBody>
          <a:bodyPr/>
          <a:lstStyle/>
          <a:p>
            <a:endParaRPr lang="en-US"/>
          </a:p>
        </p:txBody>
      </p:sp>
      <p:sp>
        <p:nvSpPr>
          <p:cNvPr id="17" name="Text 15"/>
          <p:cNvSpPr/>
          <p:nvPr/>
        </p:nvSpPr>
        <p:spPr>
          <a:xfrm>
            <a:off x="4187952" y="1545336"/>
            <a:ext cx="2093976" cy="274320"/>
          </a:xfrm>
          <a:prstGeom prst="rect">
            <a:avLst/>
          </a:prstGeom>
          <a:noFill/>
          <a:ln/>
        </p:spPr>
        <p:txBody>
          <a:bodyPr wrap="square" lIns="0" tIns="0" rIns="0" bIns="0" rtlCol="0" anchor="ctr"/>
          <a:lstStyle/>
          <a:p>
            <a:pPr marL="0" indent="0">
              <a:buNone/>
            </a:pPr>
            <a:r>
              <a:rPr lang="en-US" sz="1600" b="1" dirty="0">
                <a:solidFill>
                  <a:srgbClr val="B9770E"/>
                </a:solidFill>
                <a:latin typeface="Aptos Display" pitchFamily="34" charset="0"/>
                <a:ea typeface="Aptos Display" pitchFamily="34" charset="-122"/>
                <a:cs typeface="Aptos Display" pitchFamily="34" charset="-120"/>
              </a:rPr>
              <a:t>1. Wasted capacity</a:t>
            </a:r>
            <a:endParaRPr lang="en-US" sz="1600" dirty="0"/>
          </a:p>
        </p:txBody>
      </p:sp>
      <p:sp>
        <p:nvSpPr>
          <p:cNvPr id="18" name="Text 16"/>
          <p:cNvSpPr/>
          <p:nvPr/>
        </p:nvSpPr>
        <p:spPr>
          <a:xfrm>
            <a:off x="4187952" y="1892808"/>
            <a:ext cx="2093976" cy="53949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One machine can be overloaded while another sits idle.</a:t>
            </a:r>
            <a:endParaRPr lang="en-US" sz="1250" dirty="0"/>
          </a:p>
        </p:txBody>
      </p:sp>
      <p:sp>
        <p:nvSpPr>
          <p:cNvPr id="19" name="Shape 17"/>
          <p:cNvSpPr/>
          <p:nvPr/>
        </p:nvSpPr>
        <p:spPr>
          <a:xfrm>
            <a:off x="6656832" y="1417320"/>
            <a:ext cx="2423160" cy="1143000"/>
          </a:xfrm>
          <a:prstGeom prst="roundRect">
            <a:avLst>
              <a:gd name="adj" fmla="val 6400"/>
            </a:avLst>
          </a:prstGeom>
          <a:solidFill>
            <a:srgbClr val="EAF1FB"/>
          </a:solidFill>
          <a:ln w="15240">
            <a:solidFill>
              <a:srgbClr val="B7CBE7"/>
            </a:solidFill>
            <a:prstDash val="solid"/>
          </a:ln>
          <a:effectLst>
            <a:outerShdw blurRad="19050" dist="50800" dir="2700000" algn="bl" rotWithShape="0">
              <a:srgbClr val="B9C0C8">
                <a:alpha val="18000"/>
              </a:srgbClr>
            </a:outerShdw>
          </a:effectLst>
        </p:spPr>
        <p:txBody>
          <a:bodyPr/>
          <a:lstStyle/>
          <a:p>
            <a:endParaRPr lang="en-US"/>
          </a:p>
        </p:txBody>
      </p:sp>
      <p:sp>
        <p:nvSpPr>
          <p:cNvPr id="20" name="Text 18"/>
          <p:cNvSpPr/>
          <p:nvPr/>
        </p:nvSpPr>
        <p:spPr>
          <a:xfrm>
            <a:off x="6821424" y="1545336"/>
            <a:ext cx="2093976" cy="27432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2. Manual search</a:t>
            </a:r>
            <a:endParaRPr lang="en-US" sz="1600" dirty="0"/>
          </a:p>
        </p:txBody>
      </p:sp>
      <p:sp>
        <p:nvSpPr>
          <p:cNvPr id="21" name="Text 19"/>
          <p:cNvSpPr/>
          <p:nvPr/>
        </p:nvSpPr>
        <p:spPr>
          <a:xfrm>
            <a:off x="6821424" y="1892808"/>
            <a:ext cx="2093976" cy="53949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Users spend time checking machines instead of running jobs.</a:t>
            </a:r>
            <a:endParaRPr lang="en-US" sz="1250" dirty="0"/>
          </a:p>
        </p:txBody>
      </p:sp>
      <p:sp>
        <p:nvSpPr>
          <p:cNvPr id="22" name="Shape 20"/>
          <p:cNvSpPr/>
          <p:nvPr/>
        </p:nvSpPr>
        <p:spPr>
          <a:xfrm>
            <a:off x="9290304" y="1417320"/>
            <a:ext cx="2240280" cy="1143000"/>
          </a:xfrm>
          <a:prstGeom prst="roundRect">
            <a:avLst>
              <a:gd name="adj" fmla="val 6400"/>
            </a:avLst>
          </a:prstGeom>
          <a:solidFill>
            <a:srgbClr val="E8F4F2"/>
          </a:solidFill>
          <a:ln w="15240">
            <a:solidFill>
              <a:srgbClr val="B6D9D5"/>
            </a:solidFill>
            <a:prstDash val="solid"/>
          </a:ln>
          <a:effectLst>
            <a:outerShdw blurRad="19050" dist="50800" dir="2700000" algn="bl" rotWithShape="0">
              <a:srgbClr val="B9C0C8">
                <a:alpha val="18000"/>
              </a:srgbClr>
            </a:outerShdw>
          </a:effectLst>
        </p:spPr>
        <p:txBody>
          <a:bodyPr/>
          <a:lstStyle/>
          <a:p>
            <a:endParaRPr lang="en-US"/>
          </a:p>
        </p:txBody>
      </p:sp>
      <p:sp>
        <p:nvSpPr>
          <p:cNvPr id="23" name="Text 21"/>
          <p:cNvSpPr/>
          <p:nvPr/>
        </p:nvSpPr>
        <p:spPr>
          <a:xfrm>
            <a:off x="9454896" y="1545336"/>
            <a:ext cx="1911096" cy="274320"/>
          </a:xfrm>
          <a:prstGeom prst="rect">
            <a:avLst/>
          </a:prstGeom>
          <a:noFill/>
          <a:ln/>
        </p:spPr>
        <p:txBody>
          <a:bodyPr wrap="square" lIns="0" tIns="0" rIns="0" bIns="0" rtlCol="0" anchor="ctr"/>
          <a:lstStyle/>
          <a:p>
            <a:pPr marL="0" indent="0">
              <a:buNone/>
            </a:pPr>
            <a:r>
              <a:rPr lang="en-US" sz="1600" b="1" dirty="0">
                <a:solidFill>
                  <a:srgbClr val="2F7C78"/>
                </a:solidFill>
                <a:latin typeface="Aptos Display" pitchFamily="34" charset="0"/>
                <a:ea typeface="Aptos Display" pitchFamily="34" charset="-122"/>
                <a:cs typeface="Aptos Display" pitchFamily="34" charset="-120"/>
              </a:rPr>
              <a:t>3. No global policy</a:t>
            </a:r>
            <a:endParaRPr lang="en-US" sz="1600" dirty="0"/>
          </a:p>
        </p:txBody>
      </p:sp>
      <p:sp>
        <p:nvSpPr>
          <p:cNvPr id="24" name="Text 22"/>
          <p:cNvSpPr/>
          <p:nvPr/>
        </p:nvSpPr>
        <p:spPr>
          <a:xfrm>
            <a:off x="9454896" y="1892808"/>
            <a:ext cx="1911096" cy="53949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No shared queue, priority, or fairness mechanism.</a:t>
            </a:r>
            <a:endParaRPr lang="en-US" sz="1250" dirty="0"/>
          </a:p>
        </p:txBody>
      </p:sp>
      <p:sp>
        <p:nvSpPr>
          <p:cNvPr id="25" name="Shape 23"/>
          <p:cNvSpPr/>
          <p:nvPr/>
        </p:nvSpPr>
        <p:spPr>
          <a:xfrm>
            <a:off x="4023360" y="2971800"/>
            <a:ext cx="7498080" cy="2148840"/>
          </a:xfrm>
          <a:prstGeom prst="roundRect">
            <a:avLst>
              <a:gd name="adj" fmla="val 4255"/>
            </a:avLst>
          </a:prstGeom>
          <a:solidFill>
            <a:srgbClr val="FFFFFF"/>
          </a:solidFill>
          <a:ln w="15240">
            <a:solidFill>
              <a:srgbClr val="D7DDE5"/>
            </a:solidFill>
            <a:prstDash val="solid"/>
          </a:ln>
        </p:spPr>
        <p:txBody>
          <a:bodyPr/>
          <a:lstStyle/>
          <a:p>
            <a:endParaRPr lang="en-US"/>
          </a:p>
        </p:txBody>
      </p:sp>
      <p:sp>
        <p:nvSpPr>
          <p:cNvPr id="26" name="Text 24"/>
          <p:cNvSpPr/>
          <p:nvPr/>
        </p:nvSpPr>
        <p:spPr>
          <a:xfrm>
            <a:off x="4315968" y="3246120"/>
            <a:ext cx="1828800" cy="320040"/>
          </a:xfrm>
          <a:prstGeom prst="rect">
            <a:avLst/>
          </a:prstGeom>
          <a:noFill/>
          <a:ln/>
        </p:spPr>
        <p:txBody>
          <a:bodyPr wrap="square" lIns="0" tIns="0" rIns="0" bIns="0" rtlCol="0" anchor="ctr"/>
          <a:lstStyle/>
          <a:p>
            <a:pPr marL="0" indent="0">
              <a:buNone/>
            </a:pPr>
            <a:r>
              <a:rPr lang="en-US" sz="1900" b="1" dirty="0">
                <a:solidFill>
                  <a:srgbClr val="244A7C"/>
                </a:solidFill>
                <a:latin typeface="Aptos Display" pitchFamily="34" charset="0"/>
                <a:ea typeface="Aptos Display" pitchFamily="34" charset="-122"/>
                <a:cs typeface="Aptos Display" pitchFamily="34" charset="-120"/>
              </a:rPr>
              <a:t>Project Goal</a:t>
            </a:r>
            <a:endParaRPr lang="en-US" sz="1900" dirty="0"/>
          </a:p>
        </p:txBody>
      </p:sp>
      <p:sp>
        <p:nvSpPr>
          <p:cNvPr id="27" name="Text 25"/>
          <p:cNvSpPr/>
          <p:nvPr/>
        </p:nvSpPr>
        <p:spPr>
          <a:xfrm>
            <a:off x="4315968" y="3675888"/>
            <a:ext cx="6583680" cy="777240"/>
          </a:xfrm>
          <a:prstGeom prst="rect">
            <a:avLst/>
          </a:prstGeom>
          <a:noFill/>
          <a:ln/>
        </p:spPr>
        <p:txBody>
          <a:bodyPr wrap="square" lIns="0" tIns="0" rIns="0" bIns="0" rtlCol="0" anchor="ctr"/>
          <a:lstStyle/>
          <a:p>
            <a:pPr marL="0" indent="0">
              <a:buNone/>
            </a:pPr>
            <a:r>
              <a:rPr lang="en-US" sz="2000" b="1" dirty="0">
                <a:solidFill>
                  <a:srgbClr val="1F2937"/>
                </a:solidFill>
                <a:latin typeface="Aptos" pitchFamily="34" charset="0"/>
                <a:ea typeface="Aptos" pitchFamily="34" charset="-122"/>
                <a:cs typeface="Aptos" pitchFamily="34" charset="-120"/>
              </a:rPr>
              <a:t>Hide the physical location of resources and let users interact with the lab as one shared computing pool.</a:t>
            </a:r>
            <a:endParaRPr lang="en-US" sz="2000" dirty="0"/>
          </a:p>
        </p:txBody>
      </p:sp>
      <p:sp>
        <p:nvSpPr>
          <p:cNvPr id="28" name="Text 26"/>
          <p:cNvSpPr/>
          <p:nvPr/>
        </p:nvSpPr>
        <p:spPr>
          <a:xfrm>
            <a:off x="4315968" y="4617720"/>
            <a:ext cx="6537960" cy="292608"/>
          </a:xfrm>
          <a:prstGeom prst="rect">
            <a:avLst/>
          </a:prstGeom>
          <a:noFill/>
          <a:ln/>
        </p:spPr>
        <p:txBody>
          <a:bodyPr wrap="square" lIns="0" tIns="0" rIns="0" bIns="0" rtlCol="0" anchor="ctr"/>
          <a:lstStyle/>
          <a:p>
            <a:pPr marL="0" indent="0">
              <a:buNone/>
            </a:pPr>
            <a:r>
              <a:rPr lang="en-US" sz="1300" dirty="0">
                <a:solidFill>
                  <a:srgbClr val="6B7280"/>
                </a:solidFill>
                <a:latin typeface="Aptos" pitchFamily="34" charset="0"/>
                <a:ea typeface="Aptos" pitchFamily="34" charset="-122"/>
                <a:cs typeface="Aptos" pitchFamily="34" charset="-120"/>
              </a:rPr>
              <a:t>Submit work once. Let the scheduler decide where and how it runs.</a:t>
            </a:r>
            <a:endParaRPr lang="en-US" sz="1300" dirty="0"/>
          </a:p>
        </p:txBody>
      </p:sp>
      <p:sp>
        <p:nvSpPr>
          <p:cNvPr id="29"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3</a:t>
            </a:fld>
            <a:endParaRPr lang="en-US"/>
          </a:p>
        </p:txBody>
      </p:sp>
    </p:spTree>
    <p:extLst>
      <p:ext uri="{BB962C8B-B14F-4D97-AF65-F5344CB8AC3E}">
        <p14:creationId xmlns:p14="http://schemas.microsoft.com/office/powerpoint/2010/main" val="1350193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84048"/>
            <a:ext cx="10972800" cy="438912"/>
          </a:xfrm>
          <a:prstGeom prst="rect">
            <a:avLst/>
          </a:prstGeom>
          <a:noFill/>
          <a:ln/>
        </p:spPr>
        <p:txBody>
          <a:bodyPr wrap="square" lIns="0" tIns="0" rIns="0" bIns="0" rtlCol="0" anchor="ctr"/>
          <a:lstStyle/>
          <a:p>
            <a:pPr>
              <a:buNone/>
            </a:pPr>
            <a:r>
              <a:rPr lang="en-US" sz="2600" b="1" dirty="0">
                <a:solidFill>
                  <a:srgbClr val="1F2937"/>
                </a:solidFill>
                <a:latin typeface="Aptos Display"/>
                <a:ea typeface="Aptos Display" pitchFamily="34" charset="-122"/>
                <a:cs typeface="Aptos Display" pitchFamily="34" charset="-120"/>
              </a:rPr>
              <a:t>Not Every Job Is a Batch Job</a:t>
            </a:r>
            <a:endParaRPr lang="en-US" sz="2600" dirty="0">
              <a:solidFill>
                <a:srgbClr val="1F2937"/>
              </a:solidFill>
              <a:latin typeface="Aptos Display"/>
              <a:ea typeface="Aptos Display" pitchFamily="34" charset="-122"/>
              <a:cs typeface="Aptos Display" pitchFamily="34" charset="-120"/>
            </a:endParaRPr>
          </a:p>
        </p:txBody>
      </p:sp>
      <p:sp>
        <p:nvSpPr>
          <p:cNvPr id="3" name="Text 1"/>
          <p:cNvSpPr/>
          <p:nvPr/>
        </p:nvSpPr>
        <p:spPr>
          <a:xfrm>
            <a:off x="621792" y="841248"/>
            <a:ext cx="10789920" cy="274320"/>
          </a:xfrm>
          <a:prstGeom prst="rect">
            <a:avLst/>
          </a:prstGeom>
          <a:noFill/>
          <a:ln/>
        </p:spPr>
        <p:txBody>
          <a:bodyPr wrap="square" lIns="0" tIns="0" rIns="0" bIns="0" rtlCol="0" anchor="ctr"/>
          <a:lstStyle/>
          <a:p>
            <a:pPr marL="0" indent="0">
              <a:buNone/>
            </a:pPr>
            <a:r>
              <a:rPr lang="en-US" sz="1200" dirty="0">
                <a:solidFill>
                  <a:srgbClr val="6B7280"/>
                </a:solidFill>
                <a:latin typeface="Aptos" pitchFamily="34" charset="0"/>
                <a:ea typeface="Aptos" pitchFamily="34" charset="-122"/>
                <a:cs typeface="Aptos" pitchFamily="34" charset="-120"/>
              </a:rPr>
              <a:t>Our lab runs three kinds of work, and a traditional queue only fits one.</a:t>
            </a:r>
            <a:endParaRPr lang="en-US" sz="1200" dirty="0"/>
          </a:p>
        </p:txBody>
      </p:sp>
      <p:sp>
        <p:nvSpPr>
          <p:cNvPr id="30" name="Work Card 1"/>
          <p:cNvSpPr/>
          <p:nvPr/>
        </p:nvSpPr>
        <p:spPr>
          <a:xfrm>
            <a:off x="658368" y="1325880"/>
            <a:ext cx="3383280" cy="2651760"/>
          </a:xfrm>
          <a:prstGeom prst="roundRect">
            <a:avLst>
              <a:gd name="adj" fmla="val 4571"/>
            </a:avLst>
          </a:prstGeom>
          <a:solidFill>
            <a:srgbClr val="EAF1FB"/>
          </a:solidFill>
          <a:ln w="15240">
            <a:solidFill>
              <a:srgbClr val="B5CAE7"/>
            </a:solidFill>
            <a:prstDash val="solid"/>
          </a:ln>
        </p:spPr>
        <p:txBody>
          <a:bodyPr wrap="square" lIns="201168" tIns="201168" rIns="201168" bIns="182880" rtlCol="0" anchor="t">
            <a:noAutofit/>
          </a:bodyPr>
          <a:lstStyle/>
          <a:p>
            <a:pPr marL="0" indent="0">
              <a:spcBef>
                <a:spcPts val="0"/>
              </a:spcBef>
              <a:buNone/>
            </a:pPr>
            <a:r>
              <a:rPr lang="en-US" sz="1900" b="1" dirty="0">
                <a:solidFill>
                  <a:srgbClr val="244A7C"/>
                </a:solidFill>
                <a:latin typeface="Aptos Display" pitchFamily="34" charset="0"/>
                <a:ea typeface="Aptos Display" pitchFamily="34" charset="-122"/>
                <a:cs typeface="Aptos Display" pitchFamily="34" charset="-120"/>
              </a:rPr>
              <a:t>Training runs</a:t>
            </a:r>
          </a:p>
          <a:p>
            <a:pPr marL="0" indent="0">
              <a:spcBef>
                <a:spcPts val="1800"/>
              </a:spcBef>
              <a:buNone/>
            </a:pPr>
            <a:r>
              <a:rPr lang="en-US" sz="1100" b="1" dirty="0">
                <a:solidFill>
                  <a:srgbClr val="6B7280"/>
                </a:solidFill>
                <a:latin typeface="Aptos" pitchFamily="34" charset="0"/>
                <a:ea typeface="Aptos" pitchFamily="34" charset="-122"/>
                <a:cs typeface="Aptos" pitchFamily="34" charset="-120"/>
              </a:rPr>
              <a:t>WHAT IT LOOKS LIKE</a:t>
            </a:r>
          </a:p>
          <a:p>
            <a:pPr marL="0" indent="0">
              <a:spcBef>
                <a:spcPts val="400"/>
              </a:spcBef>
              <a:buNone/>
            </a:pPr>
            <a:r>
              <a:rPr lang="en-US" sz="1400" dirty="0">
                <a:solidFill>
                  <a:srgbClr val="1F2937"/>
                </a:solidFill>
                <a:latin typeface="Aptos" pitchFamily="34" charset="0"/>
                <a:ea typeface="Aptos" pitchFamily="34" charset="-122"/>
                <a:cs typeface="Aptos" pitchFamily="34" charset="-120"/>
              </a:rPr>
              <a:t>Runs for hours or days and holds a whole GPU.</a:t>
            </a:r>
          </a:p>
          <a:p>
            <a:pPr marL="0" indent="0">
              <a:spcBef>
                <a:spcPts val="2400"/>
              </a:spcBef>
              <a:buNone/>
            </a:pPr>
            <a:r>
              <a:rPr lang="en-US" sz="1100" b="1" dirty="0">
                <a:solidFill>
                  <a:srgbClr val="6B7280"/>
                </a:solidFill>
                <a:latin typeface="Aptos" pitchFamily="34" charset="0"/>
                <a:ea typeface="Aptos" pitchFamily="34" charset="-122"/>
                <a:cs typeface="Aptos" pitchFamily="34" charset="-120"/>
              </a:rPr>
              <a:t>HOW WE HANDLE IT</a:t>
            </a:r>
          </a:p>
          <a:p>
            <a:pPr marL="0" indent="0">
              <a:spcBef>
                <a:spcPts val="400"/>
              </a:spcBef>
              <a:buNone/>
            </a:pPr>
            <a:r>
              <a:rPr lang="en-US" sz="1400" b="1" dirty="0">
                <a:solidFill>
                  <a:srgbClr val="1F2937"/>
                </a:solidFill>
                <a:latin typeface="Aptos" pitchFamily="34" charset="0"/>
                <a:ea typeface="Aptos" pitchFamily="34" charset="-122"/>
                <a:cs typeface="Aptos" pitchFamily="34" charset="-120"/>
              </a:rPr>
              <a:t>Queue with priority, fairness, and backfilling.</a:t>
            </a:r>
          </a:p>
        </p:txBody>
      </p:sp>
      <p:sp>
        <p:nvSpPr>
          <p:cNvPr id="31" name="Work Card 2"/>
          <p:cNvSpPr/>
          <p:nvPr/>
        </p:nvSpPr>
        <p:spPr>
          <a:xfrm>
            <a:off x="4315968" y="1325880"/>
            <a:ext cx="3383280" cy="2651760"/>
          </a:xfrm>
          <a:prstGeom prst="roundRect">
            <a:avLst>
              <a:gd name="adj" fmla="val 4571"/>
            </a:avLst>
          </a:prstGeom>
          <a:solidFill>
            <a:srgbClr val="FFF5E3"/>
          </a:solidFill>
          <a:ln w="15240">
            <a:solidFill>
              <a:srgbClr val="E5C78E"/>
            </a:solidFill>
            <a:prstDash val="solid"/>
          </a:ln>
        </p:spPr>
        <p:txBody>
          <a:bodyPr wrap="square" lIns="201168" tIns="201168" rIns="201168" bIns="182880" rtlCol="0" anchor="t">
            <a:noAutofit/>
          </a:bodyPr>
          <a:lstStyle/>
          <a:p>
            <a:pPr marL="0" indent="0">
              <a:spcBef>
                <a:spcPts val="0"/>
              </a:spcBef>
              <a:buNone/>
            </a:pPr>
            <a:r>
              <a:rPr lang="en-US" sz="1900" b="1" dirty="0">
                <a:solidFill>
                  <a:srgbClr val="B9770E"/>
                </a:solidFill>
                <a:latin typeface="Aptos Display" pitchFamily="34" charset="0"/>
                <a:ea typeface="Aptos Display" pitchFamily="34" charset="-122"/>
                <a:cs typeface="Aptos Display" pitchFamily="34" charset="-120"/>
              </a:rPr>
              <a:t>Quick tests</a:t>
            </a:r>
          </a:p>
          <a:p>
            <a:pPr marL="0" indent="0">
              <a:spcBef>
                <a:spcPts val="1800"/>
              </a:spcBef>
              <a:buNone/>
            </a:pPr>
            <a:r>
              <a:rPr lang="en-US" sz="1100" b="1" dirty="0">
                <a:solidFill>
                  <a:srgbClr val="6B7280"/>
                </a:solidFill>
                <a:latin typeface="Aptos" pitchFamily="34" charset="0"/>
                <a:ea typeface="Aptos" pitchFamily="34" charset="-122"/>
                <a:cs typeface="Aptos" pitchFamily="34" charset="-120"/>
              </a:rPr>
              <a:t>WHAT IT LOOKS LIKE</a:t>
            </a:r>
          </a:p>
          <a:p>
            <a:pPr marL="0" indent="0">
              <a:spcBef>
                <a:spcPts val="400"/>
              </a:spcBef>
              <a:buNone/>
            </a:pPr>
            <a:r>
              <a:rPr lang="en-US" sz="1400" dirty="0">
                <a:solidFill>
                  <a:srgbClr val="1F2937"/>
                </a:solidFill>
                <a:latin typeface="Aptos" pitchFamily="34" charset="0"/>
                <a:ea typeface="Aptos" pitchFamily="34" charset="-122"/>
                <a:cs typeface="Aptos" pitchFamily="34" charset="-120"/>
              </a:rPr>
              <a:t>AI coding tools run code every few seconds.</a:t>
            </a:r>
          </a:p>
          <a:p>
            <a:pPr marL="0" indent="0">
              <a:spcBef>
                <a:spcPts val="2400"/>
              </a:spcBef>
              <a:buNone/>
            </a:pPr>
            <a:r>
              <a:rPr lang="en-US" sz="1100" b="1" dirty="0">
                <a:solidFill>
                  <a:srgbClr val="6B7280"/>
                </a:solidFill>
                <a:latin typeface="Aptos" pitchFamily="34" charset="0"/>
                <a:ea typeface="Aptos" pitchFamily="34" charset="-122"/>
                <a:cs typeface="Aptos" pitchFamily="34" charset="-120"/>
              </a:rPr>
              <a:t>HOW WE HANDLE IT</a:t>
            </a:r>
          </a:p>
          <a:p>
            <a:pPr marL="0" indent="0">
              <a:spcBef>
                <a:spcPts val="400"/>
              </a:spcBef>
              <a:buNone/>
            </a:pPr>
            <a:r>
              <a:rPr lang="en-US" sz="1400" b="1" dirty="0">
                <a:solidFill>
                  <a:srgbClr val="1F2937"/>
                </a:solidFill>
                <a:latin typeface="Aptos" pitchFamily="34" charset="0"/>
                <a:ea typeface="Aptos" pitchFamily="34" charset="-122"/>
                <a:cs typeface="Aptos" pitchFamily="34" charset="-120"/>
              </a:rPr>
              <a:t>Fast lane: ready-to-go workers with a strict time limit.</a:t>
            </a:r>
          </a:p>
        </p:txBody>
      </p:sp>
      <p:sp>
        <p:nvSpPr>
          <p:cNvPr id="32" name="Work Card 3"/>
          <p:cNvSpPr/>
          <p:nvPr/>
        </p:nvSpPr>
        <p:spPr>
          <a:xfrm>
            <a:off x="7973568" y="1325880"/>
            <a:ext cx="3383280" cy="2651760"/>
          </a:xfrm>
          <a:prstGeom prst="roundRect">
            <a:avLst>
              <a:gd name="adj" fmla="val 4571"/>
            </a:avLst>
          </a:prstGeom>
          <a:solidFill>
            <a:srgbClr val="E8F4F2"/>
          </a:solidFill>
          <a:ln w="15240">
            <a:solidFill>
              <a:srgbClr val="B5D8D4"/>
            </a:solidFill>
            <a:prstDash val="solid"/>
          </a:ln>
        </p:spPr>
        <p:txBody>
          <a:bodyPr wrap="square" lIns="201168" tIns="201168" rIns="201168" bIns="182880" rtlCol="0" anchor="t">
            <a:noAutofit/>
          </a:bodyPr>
          <a:lstStyle/>
          <a:p>
            <a:pPr marL="0" indent="0">
              <a:spcBef>
                <a:spcPts val="0"/>
              </a:spcBef>
              <a:buNone/>
            </a:pPr>
            <a:r>
              <a:rPr lang="en-US" sz="1900" b="1" dirty="0">
                <a:solidFill>
                  <a:srgbClr val="2F7C78"/>
                </a:solidFill>
                <a:latin typeface="Aptos Display" pitchFamily="34" charset="0"/>
                <a:ea typeface="Aptos Display" pitchFamily="34" charset="-122"/>
                <a:cs typeface="Aptos Display" pitchFamily="34" charset="-120"/>
              </a:rPr>
              <a:t>Agent development</a:t>
            </a:r>
          </a:p>
          <a:p>
            <a:pPr marL="0" indent="0">
              <a:spcBef>
                <a:spcPts val="1800"/>
              </a:spcBef>
              <a:buNone/>
            </a:pPr>
            <a:r>
              <a:rPr lang="en-US" sz="1100" b="1" dirty="0">
                <a:solidFill>
                  <a:srgbClr val="6B7280"/>
                </a:solidFill>
                <a:latin typeface="Aptos" pitchFamily="34" charset="0"/>
                <a:ea typeface="Aptos" pitchFamily="34" charset="-122"/>
                <a:cs typeface="Aptos" pitchFamily="34" charset="-120"/>
              </a:rPr>
              <a:t>WHAT IT LOOKS LIKE</a:t>
            </a:r>
          </a:p>
          <a:p>
            <a:pPr marL="0" indent="0">
              <a:spcBef>
                <a:spcPts val="400"/>
              </a:spcBef>
              <a:buNone/>
            </a:pPr>
            <a:r>
              <a:rPr lang="en-US" sz="1400" dirty="0">
                <a:solidFill>
                  <a:srgbClr val="1F2937"/>
                </a:solidFill>
                <a:latin typeface="Aptos" pitchFamily="34" charset="0"/>
                <a:ea typeface="Aptos" pitchFamily="34" charset="-122"/>
                <a:cs typeface="Aptos" pitchFamily="34" charset="-120"/>
              </a:rPr>
              <a:t>Needs a model to call, not a GPU to hold.</a:t>
            </a:r>
          </a:p>
          <a:p>
            <a:pPr marL="0" indent="0">
              <a:spcBef>
                <a:spcPts val="2400"/>
              </a:spcBef>
              <a:buNone/>
            </a:pPr>
            <a:r>
              <a:rPr lang="en-US" sz="1100" b="1" dirty="0">
                <a:solidFill>
                  <a:srgbClr val="6B7280"/>
                </a:solidFill>
                <a:latin typeface="Aptos" pitchFamily="34" charset="0"/>
                <a:ea typeface="Aptos" pitchFamily="34" charset="-122"/>
                <a:cs typeface="Aptos" pitchFamily="34" charset="-120"/>
              </a:rPr>
              <a:t>HOW WE HANDLE IT</a:t>
            </a:r>
          </a:p>
          <a:p>
            <a:pPr marL="0" indent="0">
              <a:spcBef>
                <a:spcPts val="400"/>
              </a:spcBef>
              <a:buNone/>
            </a:pPr>
            <a:r>
              <a:rPr lang="en-US" sz="1400" b="1" dirty="0">
                <a:solidFill>
                  <a:srgbClr val="1F2937"/>
                </a:solidFill>
                <a:latin typeface="Aptos" pitchFamily="34" charset="0"/>
                <a:ea typeface="Aptos" pitchFamily="34" charset="-122"/>
                <a:cs typeface="Aptos" pitchFamily="34" charset="-120"/>
              </a:rPr>
              <a:t>Shared model service, started when someone needs it.</a:t>
            </a:r>
          </a:p>
        </p:txBody>
      </p:sp>
      <p:sp>
        <p:nvSpPr>
          <p:cNvPr id="33" name="Takeaway Band"/>
          <p:cNvSpPr/>
          <p:nvPr/>
        </p:nvSpPr>
        <p:spPr>
          <a:xfrm>
            <a:off x="658368" y="4206240"/>
            <a:ext cx="10698480" cy="731520"/>
          </a:xfrm>
          <a:prstGeom prst="roundRect">
            <a:avLst>
              <a:gd name="adj" fmla="val 10000"/>
            </a:avLst>
          </a:prstGeom>
          <a:solidFill>
            <a:srgbClr val="FFFFFF"/>
          </a:solidFill>
          <a:ln w="12700">
            <a:solidFill>
              <a:srgbClr val="D4DAE2"/>
            </a:solidFill>
            <a:prstDash val="solid"/>
          </a:ln>
        </p:spPr>
        <p:txBody>
          <a:bodyPr wrap="square" lIns="256032" tIns="91440" rIns="256032" bIns="91440" rtlCol="0" anchor="ctr">
            <a:noAutofit/>
          </a:bodyP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One scheduler, one GPU pool. </a:t>
            </a:r>
            <a:r>
              <a:rPr lang="en-US" sz="1600" dirty="0">
                <a:solidFill>
                  <a:srgbClr val="1F2937"/>
                </a:solidFill>
                <a:latin typeface="Aptos" pitchFamily="34" charset="0"/>
                <a:ea typeface="Aptos" pitchFamily="34" charset="-122"/>
                <a:cs typeface="Aptos" pitchFamily="34" charset="-120"/>
              </a:rPr>
              <a:t>Idle model services give their GPU back to training.</a:t>
            </a:r>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4</a:t>
            </a:fld>
            <a:endParaRPr lang="en-US"/>
          </a:p>
        </p:txBody>
      </p:sp>
    </p:spTree>
    <p:extLst>
      <p:ext uri="{BB962C8B-B14F-4D97-AF65-F5344CB8AC3E}">
        <p14:creationId xmlns:p14="http://schemas.microsoft.com/office/powerpoint/2010/main" val="340505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D12E7-6C0C-6275-D416-3FF97AD9E699}"/>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8854FA1E-71BB-5334-A689-8ED4B563353A}"/>
              </a:ext>
            </a:extLst>
          </p:cNvPr>
          <p:cNvPicPr>
            <a:picLocks noChangeAspect="1"/>
          </p:cNvPicPr>
          <p:nvPr/>
        </p:nvPicPr>
        <p:blipFill>
          <a:blip r:embed="rId3"/>
          <a:stretch>
            <a:fillRect/>
          </a:stretch>
        </p:blipFill>
        <p:spPr>
          <a:xfrm>
            <a:off x="2005587" y="539077"/>
            <a:ext cx="8180826" cy="5779846"/>
          </a:xfrm>
          <a:prstGeom prst="rect">
            <a:avLst/>
          </a:prstGeom>
        </p:spPr>
      </p:pic>
    </p:spTree>
    <p:extLst>
      <p:ext uri="{BB962C8B-B14F-4D97-AF65-F5344CB8AC3E}">
        <p14:creationId xmlns:p14="http://schemas.microsoft.com/office/powerpoint/2010/main" val="1389568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FEEAC-60CC-192E-F291-A2F8E6073D6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AF7E80-7742-2C07-0C14-1E86BBF9D73F}"/>
              </a:ext>
            </a:extLst>
          </p:cNvPr>
          <p:cNvSpPr/>
          <p:nvPr/>
        </p:nvSpPr>
        <p:spPr>
          <a:xfrm>
            <a:off x="594360" y="384048"/>
            <a:ext cx="10972800" cy="438912"/>
          </a:xfrm>
          <a:prstGeom prst="rect">
            <a:avLst/>
          </a:prstGeom>
          <a:noFill/>
          <a:ln/>
        </p:spPr>
        <p:txBody>
          <a:bodyPr wrap="square" lIns="0" tIns="0" rIns="0" bIns="0" rtlCol="0" anchor="ctr"/>
          <a:lstStyle/>
          <a:p>
            <a:pPr>
              <a:buNone/>
            </a:pPr>
            <a:r>
              <a:rPr lang="en-US" sz="2600" b="1" dirty="0">
                <a:solidFill>
                  <a:srgbClr val="1F2937"/>
                </a:solidFill>
                <a:latin typeface="Aptos Display"/>
                <a:ea typeface="Aptos Display" pitchFamily="34" charset="-122"/>
                <a:cs typeface="Aptos Display" pitchFamily="34" charset="-120"/>
              </a:rPr>
              <a:t>Not Every Job Is a Batch Job</a:t>
            </a:r>
            <a:endParaRPr lang="en-US" sz="2600" dirty="0">
              <a:solidFill>
                <a:srgbClr val="1F2937"/>
              </a:solidFill>
              <a:latin typeface="Aptos Display"/>
              <a:ea typeface="Aptos Display" pitchFamily="34" charset="-122"/>
              <a:cs typeface="Aptos Display" pitchFamily="34" charset="-120"/>
            </a:endParaRPr>
          </a:p>
        </p:txBody>
      </p:sp>
      <p:sp>
        <p:nvSpPr>
          <p:cNvPr id="3" name="Text 1">
            <a:extLst>
              <a:ext uri="{FF2B5EF4-FFF2-40B4-BE49-F238E27FC236}">
                <a16:creationId xmlns:a16="http://schemas.microsoft.com/office/drawing/2014/main" id="{2FA998B8-3F74-7F86-A50F-0A50E01B124A}"/>
              </a:ext>
            </a:extLst>
          </p:cNvPr>
          <p:cNvSpPr/>
          <p:nvPr/>
        </p:nvSpPr>
        <p:spPr>
          <a:xfrm>
            <a:off x="621792" y="841248"/>
            <a:ext cx="10789920" cy="274320"/>
          </a:xfrm>
          <a:prstGeom prst="rect">
            <a:avLst/>
          </a:prstGeom>
          <a:noFill/>
          <a:ln/>
        </p:spPr>
        <p:txBody>
          <a:bodyPr wrap="square" lIns="0" tIns="0" rIns="0" bIns="0" rtlCol="0" anchor="ctr"/>
          <a:lstStyle/>
          <a:p>
            <a:pPr marL="0" indent="0">
              <a:buNone/>
            </a:pPr>
            <a:r>
              <a:rPr lang="en-US" sz="1200" dirty="0">
                <a:solidFill>
                  <a:srgbClr val="6B7280"/>
                </a:solidFill>
                <a:latin typeface="Aptos" pitchFamily="34" charset="0"/>
                <a:ea typeface="Aptos" pitchFamily="34" charset="-122"/>
                <a:cs typeface="Aptos" pitchFamily="34" charset="-120"/>
              </a:rPr>
              <a:t>Our lab runs three kinds of work, and a traditional queue only fits one.</a:t>
            </a:r>
            <a:endParaRPr lang="en-US" sz="1200" dirty="0"/>
          </a:p>
        </p:txBody>
      </p:sp>
      <p:sp>
        <p:nvSpPr>
          <p:cNvPr id="30" name="Work Card 1">
            <a:extLst>
              <a:ext uri="{FF2B5EF4-FFF2-40B4-BE49-F238E27FC236}">
                <a16:creationId xmlns:a16="http://schemas.microsoft.com/office/drawing/2014/main" id="{0220C7CC-317A-8C53-1DF7-57729EAEEEF0}"/>
              </a:ext>
            </a:extLst>
          </p:cNvPr>
          <p:cNvSpPr/>
          <p:nvPr/>
        </p:nvSpPr>
        <p:spPr>
          <a:xfrm>
            <a:off x="658368" y="1325880"/>
            <a:ext cx="3383280" cy="2651760"/>
          </a:xfrm>
          <a:prstGeom prst="roundRect">
            <a:avLst>
              <a:gd name="adj" fmla="val 4571"/>
            </a:avLst>
          </a:prstGeom>
          <a:solidFill>
            <a:srgbClr val="EAF1FB"/>
          </a:solidFill>
          <a:ln w="15240">
            <a:solidFill>
              <a:srgbClr val="B5CAE7"/>
            </a:solidFill>
            <a:prstDash val="solid"/>
          </a:ln>
        </p:spPr>
        <p:txBody>
          <a:bodyPr wrap="square" lIns="201168" tIns="201168" rIns="201168" bIns="182880" rtlCol="0" anchor="t">
            <a:noAutofit/>
          </a:bodyPr>
          <a:lstStyle/>
          <a:p>
            <a:pPr marL="0" indent="0">
              <a:spcBef>
                <a:spcPts val="0"/>
              </a:spcBef>
              <a:buNone/>
            </a:pPr>
            <a:r>
              <a:rPr lang="en-US" sz="1900" b="1" dirty="0">
                <a:solidFill>
                  <a:srgbClr val="244A7C"/>
                </a:solidFill>
                <a:latin typeface="Aptos Display" pitchFamily="34" charset="0"/>
                <a:ea typeface="Aptos Display" pitchFamily="34" charset="-122"/>
                <a:cs typeface="Aptos Display" pitchFamily="34" charset="-120"/>
              </a:rPr>
              <a:t>Training runs</a:t>
            </a:r>
          </a:p>
          <a:p>
            <a:pPr marL="0" indent="0">
              <a:spcBef>
                <a:spcPts val="1800"/>
              </a:spcBef>
              <a:buNone/>
            </a:pPr>
            <a:r>
              <a:rPr lang="en-US" sz="1100" b="1" dirty="0">
                <a:solidFill>
                  <a:srgbClr val="6B7280"/>
                </a:solidFill>
                <a:latin typeface="Aptos" pitchFamily="34" charset="0"/>
                <a:ea typeface="Aptos" pitchFamily="34" charset="-122"/>
                <a:cs typeface="Aptos" pitchFamily="34" charset="-120"/>
              </a:rPr>
              <a:t>WHAT IT LOOKS LIKE</a:t>
            </a:r>
          </a:p>
          <a:p>
            <a:pPr marL="0" indent="0">
              <a:spcBef>
                <a:spcPts val="400"/>
              </a:spcBef>
              <a:buNone/>
            </a:pPr>
            <a:r>
              <a:rPr lang="en-US" sz="1400" dirty="0">
                <a:solidFill>
                  <a:srgbClr val="1F2937"/>
                </a:solidFill>
                <a:latin typeface="Aptos" pitchFamily="34" charset="0"/>
                <a:ea typeface="Aptos" pitchFamily="34" charset="-122"/>
                <a:cs typeface="Aptos" pitchFamily="34" charset="-120"/>
              </a:rPr>
              <a:t>Runs for hours or days and holds a whole GPU.</a:t>
            </a:r>
          </a:p>
          <a:p>
            <a:pPr marL="0" indent="0">
              <a:spcBef>
                <a:spcPts val="2400"/>
              </a:spcBef>
              <a:buNone/>
            </a:pPr>
            <a:r>
              <a:rPr lang="en-US" sz="1100" b="1" dirty="0">
                <a:solidFill>
                  <a:srgbClr val="6B7280"/>
                </a:solidFill>
                <a:latin typeface="Aptos" pitchFamily="34" charset="0"/>
                <a:ea typeface="Aptos" pitchFamily="34" charset="-122"/>
                <a:cs typeface="Aptos" pitchFamily="34" charset="-120"/>
              </a:rPr>
              <a:t>HOW WE HANDLE IT</a:t>
            </a:r>
          </a:p>
          <a:p>
            <a:pPr marL="0" indent="0">
              <a:spcBef>
                <a:spcPts val="400"/>
              </a:spcBef>
              <a:buNone/>
            </a:pPr>
            <a:r>
              <a:rPr lang="en-US" sz="1400" b="1" dirty="0">
                <a:solidFill>
                  <a:srgbClr val="1F2937"/>
                </a:solidFill>
                <a:latin typeface="Aptos" pitchFamily="34" charset="0"/>
                <a:ea typeface="Aptos" pitchFamily="34" charset="-122"/>
                <a:cs typeface="Aptos" pitchFamily="34" charset="-120"/>
              </a:rPr>
              <a:t>Queue with priority, fairness, and backfilling.</a:t>
            </a:r>
          </a:p>
        </p:txBody>
      </p:sp>
      <p:sp>
        <p:nvSpPr>
          <p:cNvPr id="31" name="Work Card 2">
            <a:extLst>
              <a:ext uri="{FF2B5EF4-FFF2-40B4-BE49-F238E27FC236}">
                <a16:creationId xmlns:a16="http://schemas.microsoft.com/office/drawing/2014/main" id="{6D77BF84-067B-537D-545A-90481E112CA5}"/>
              </a:ext>
            </a:extLst>
          </p:cNvPr>
          <p:cNvSpPr/>
          <p:nvPr/>
        </p:nvSpPr>
        <p:spPr>
          <a:xfrm>
            <a:off x="4315968" y="1325880"/>
            <a:ext cx="3383280" cy="2651760"/>
          </a:xfrm>
          <a:prstGeom prst="roundRect">
            <a:avLst>
              <a:gd name="adj" fmla="val 4571"/>
            </a:avLst>
          </a:prstGeom>
          <a:solidFill>
            <a:srgbClr val="FFF5E3"/>
          </a:solidFill>
          <a:ln w="15240">
            <a:solidFill>
              <a:srgbClr val="E5C78E"/>
            </a:solidFill>
            <a:prstDash val="solid"/>
          </a:ln>
        </p:spPr>
        <p:txBody>
          <a:bodyPr wrap="square" lIns="201168" tIns="201168" rIns="201168" bIns="182880" rtlCol="0" anchor="t">
            <a:noAutofit/>
          </a:bodyPr>
          <a:lstStyle/>
          <a:p>
            <a:pPr marL="0" indent="0">
              <a:spcBef>
                <a:spcPts val="0"/>
              </a:spcBef>
              <a:buNone/>
            </a:pPr>
            <a:r>
              <a:rPr lang="en-US" sz="1900" b="1" dirty="0">
                <a:solidFill>
                  <a:srgbClr val="B9770E"/>
                </a:solidFill>
                <a:latin typeface="Aptos Display" pitchFamily="34" charset="0"/>
                <a:ea typeface="Aptos Display" pitchFamily="34" charset="-122"/>
                <a:cs typeface="Aptos Display" pitchFamily="34" charset="-120"/>
              </a:rPr>
              <a:t>Quick tests</a:t>
            </a:r>
          </a:p>
          <a:p>
            <a:pPr marL="0" indent="0">
              <a:spcBef>
                <a:spcPts val="1800"/>
              </a:spcBef>
              <a:buNone/>
            </a:pPr>
            <a:r>
              <a:rPr lang="en-US" sz="1100" b="1" dirty="0">
                <a:solidFill>
                  <a:srgbClr val="6B7280"/>
                </a:solidFill>
                <a:latin typeface="Aptos" pitchFamily="34" charset="0"/>
                <a:ea typeface="Aptos" pitchFamily="34" charset="-122"/>
                <a:cs typeface="Aptos" pitchFamily="34" charset="-120"/>
              </a:rPr>
              <a:t>WHAT IT LOOKS LIKE</a:t>
            </a:r>
          </a:p>
          <a:p>
            <a:pPr marL="0" indent="0">
              <a:spcBef>
                <a:spcPts val="400"/>
              </a:spcBef>
              <a:buNone/>
            </a:pPr>
            <a:r>
              <a:rPr lang="en-US" sz="1400" dirty="0">
                <a:solidFill>
                  <a:srgbClr val="1F2937"/>
                </a:solidFill>
                <a:latin typeface="Aptos" pitchFamily="34" charset="0"/>
                <a:ea typeface="Aptos" pitchFamily="34" charset="-122"/>
                <a:cs typeface="Aptos" pitchFamily="34" charset="-120"/>
              </a:rPr>
              <a:t>AI coding tools run code every few seconds.</a:t>
            </a:r>
          </a:p>
          <a:p>
            <a:pPr marL="0" indent="0">
              <a:spcBef>
                <a:spcPts val="2400"/>
              </a:spcBef>
              <a:buNone/>
            </a:pPr>
            <a:r>
              <a:rPr lang="en-US" sz="1100" b="1" dirty="0">
                <a:solidFill>
                  <a:srgbClr val="6B7280"/>
                </a:solidFill>
                <a:latin typeface="Aptos" pitchFamily="34" charset="0"/>
                <a:ea typeface="Aptos" pitchFamily="34" charset="-122"/>
                <a:cs typeface="Aptos" pitchFamily="34" charset="-120"/>
              </a:rPr>
              <a:t>HOW WE HANDLE IT</a:t>
            </a:r>
          </a:p>
          <a:p>
            <a:pPr marL="0" indent="0">
              <a:spcBef>
                <a:spcPts val="400"/>
              </a:spcBef>
              <a:buNone/>
            </a:pPr>
            <a:r>
              <a:rPr lang="en-US" sz="1400" b="1" dirty="0">
                <a:solidFill>
                  <a:srgbClr val="1F2937"/>
                </a:solidFill>
                <a:latin typeface="Aptos" pitchFamily="34" charset="0"/>
                <a:ea typeface="Aptos" pitchFamily="34" charset="-122"/>
                <a:cs typeface="Aptos" pitchFamily="34" charset="-120"/>
              </a:rPr>
              <a:t>Fast lane: ready-to-go workers with a strict time limit.</a:t>
            </a:r>
          </a:p>
        </p:txBody>
      </p:sp>
      <p:sp>
        <p:nvSpPr>
          <p:cNvPr id="32" name="Work Card 3">
            <a:extLst>
              <a:ext uri="{FF2B5EF4-FFF2-40B4-BE49-F238E27FC236}">
                <a16:creationId xmlns:a16="http://schemas.microsoft.com/office/drawing/2014/main" id="{FCC2621F-5CA8-14B2-4348-7862F2FF1C9C}"/>
              </a:ext>
            </a:extLst>
          </p:cNvPr>
          <p:cNvSpPr/>
          <p:nvPr/>
        </p:nvSpPr>
        <p:spPr>
          <a:xfrm>
            <a:off x="7973568" y="1325880"/>
            <a:ext cx="3383280" cy="2651760"/>
          </a:xfrm>
          <a:prstGeom prst="roundRect">
            <a:avLst>
              <a:gd name="adj" fmla="val 4571"/>
            </a:avLst>
          </a:prstGeom>
          <a:solidFill>
            <a:srgbClr val="E8F4F2"/>
          </a:solidFill>
          <a:ln w="15240">
            <a:solidFill>
              <a:srgbClr val="B5D8D4"/>
            </a:solidFill>
            <a:prstDash val="solid"/>
          </a:ln>
        </p:spPr>
        <p:txBody>
          <a:bodyPr wrap="square" lIns="201168" tIns="201168" rIns="201168" bIns="182880" rtlCol="0" anchor="t">
            <a:noAutofit/>
          </a:bodyPr>
          <a:lstStyle/>
          <a:p>
            <a:pPr marL="0" indent="0">
              <a:spcBef>
                <a:spcPts val="0"/>
              </a:spcBef>
              <a:buNone/>
            </a:pPr>
            <a:r>
              <a:rPr lang="en-US" sz="1900" b="1" dirty="0">
                <a:solidFill>
                  <a:srgbClr val="2F7C78"/>
                </a:solidFill>
                <a:latin typeface="Aptos Display" pitchFamily="34" charset="0"/>
                <a:ea typeface="Aptos Display" pitchFamily="34" charset="-122"/>
                <a:cs typeface="Aptos Display" pitchFamily="34" charset="-120"/>
              </a:rPr>
              <a:t>Agent development</a:t>
            </a:r>
          </a:p>
          <a:p>
            <a:pPr marL="0" indent="0">
              <a:spcBef>
                <a:spcPts val="1800"/>
              </a:spcBef>
              <a:buNone/>
            </a:pPr>
            <a:r>
              <a:rPr lang="en-US" sz="1100" b="1" dirty="0">
                <a:solidFill>
                  <a:srgbClr val="6B7280"/>
                </a:solidFill>
                <a:latin typeface="Aptos" pitchFamily="34" charset="0"/>
                <a:ea typeface="Aptos" pitchFamily="34" charset="-122"/>
                <a:cs typeface="Aptos" pitchFamily="34" charset="-120"/>
              </a:rPr>
              <a:t>WHAT IT LOOKS LIKE</a:t>
            </a:r>
          </a:p>
          <a:p>
            <a:pPr marL="0" indent="0">
              <a:spcBef>
                <a:spcPts val="400"/>
              </a:spcBef>
              <a:buNone/>
            </a:pPr>
            <a:r>
              <a:rPr lang="en-US" sz="1400" dirty="0">
                <a:solidFill>
                  <a:srgbClr val="1F2937"/>
                </a:solidFill>
                <a:latin typeface="Aptos" pitchFamily="34" charset="0"/>
                <a:ea typeface="Aptos" pitchFamily="34" charset="-122"/>
                <a:cs typeface="Aptos" pitchFamily="34" charset="-120"/>
              </a:rPr>
              <a:t>Needs a model to call, not a GPU to hold.</a:t>
            </a:r>
          </a:p>
          <a:p>
            <a:pPr marL="0" indent="0">
              <a:spcBef>
                <a:spcPts val="2400"/>
              </a:spcBef>
              <a:buNone/>
            </a:pPr>
            <a:r>
              <a:rPr lang="en-US" sz="1100" b="1" dirty="0">
                <a:solidFill>
                  <a:srgbClr val="6B7280"/>
                </a:solidFill>
                <a:latin typeface="Aptos" pitchFamily="34" charset="0"/>
                <a:ea typeface="Aptos" pitchFamily="34" charset="-122"/>
                <a:cs typeface="Aptos" pitchFamily="34" charset="-120"/>
              </a:rPr>
              <a:t>HOW WE HANDLE IT</a:t>
            </a:r>
          </a:p>
          <a:p>
            <a:pPr marL="0" indent="0">
              <a:spcBef>
                <a:spcPts val="400"/>
              </a:spcBef>
              <a:buNone/>
            </a:pPr>
            <a:r>
              <a:rPr lang="en-US" sz="1400" b="1" dirty="0">
                <a:solidFill>
                  <a:srgbClr val="1F2937"/>
                </a:solidFill>
                <a:latin typeface="Aptos" pitchFamily="34" charset="0"/>
                <a:ea typeface="Aptos" pitchFamily="34" charset="-122"/>
                <a:cs typeface="Aptos" pitchFamily="34" charset="-120"/>
              </a:rPr>
              <a:t>Shared model service, started when someone needs it.</a:t>
            </a:r>
          </a:p>
        </p:txBody>
      </p:sp>
      <p:sp>
        <p:nvSpPr>
          <p:cNvPr id="33" name="Takeaway Band">
            <a:extLst>
              <a:ext uri="{FF2B5EF4-FFF2-40B4-BE49-F238E27FC236}">
                <a16:creationId xmlns:a16="http://schemas.microsoft.com/office/drawing/2014/main" id="{26F9F9C9-FD03-7CC2-C054-6F95486FE33F}"/>
              </a:ext>
            </a:extLst>
          </p:cNvPr>
          <p:cNvSpPr/>
          <p:nvPr/>
        </p:nvSpPr>
        <p:spPr>
          <a:xfrm>
            <a:off x="658368" y="4206240"/>
            <a:ext cx="10698480" cy="731520"/>
          </a:xfrm>
          <a:prstGeom prst="roundRect">
            <a:avLst>
              <a:gd name="adj" fmla="val 10000"/>
            </a:avLst>
          </a:prstGeom>
          <a:solidFill>
            <a:srgbClr val="FFFFFF"/>
          </a:solidFill>
          <a:ln w="12700">
            <a:solidFill>
              <a:srgbClr val="D4DAE2"/>
            </a:solidFill>
            <a:prstDash val="solid"/>
          </a:ln>
        </p:spPr>
        <p:txBody>
          <a:bodyPr wrap="square" lIns="256032" tIns="91440" rIns="256032" bIns="91440" rtlCol="0" anchor="ctr">
            <a:noAutofit/>
          </a:bodyP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One scheduler, one GPU pool. </a:t>
            </a:r>
            <a:r>
              <a:rPr lang="en-US" sz="1600" dirty="0">
                <a:solidFill>
                  <a:srgbClr val="1F2937"/>
                </a:solidFill>
                <a:latin typeface="Aptos" pitchFamily="34" charset="0"/>
                <a:ea typeface="Aptos" pitchFamily="34" charset="-122"/>
                <a:cs typeface="Aptos" pitchFamily="34" charset="-120"/>
              </a:rPr>
              <a:t>Idle model services give their GPU back to training.</a:t>
            </a:r>
          </a:p>
        </p:txBody>
      </p:sp>
      <p:sp>
        <p:nvSpPr>
          <p:cNvPr id="25" name="Slide Number Placeholder 0">
            <a:extLst>
              <a:ext uri="{FF2B5EF4-FFF2-40B4-BE49-F238E27FC236}">
                <a16:creationId xmlns:a16="http://schemas.microsoft.com/office/drawing/2014/main" id="{1DFE71DD-B1FB-2C9F-376A-B06CF36878B7}"/>
              </a:ext>
            </a:extLst>
          </p:cNvPr>
          <p:cNvSpPr>
            <a:spLocks noGrp="1"/>
          </p:cNvSpPr>
          <p:nvPr>
            <p:ph type="sldNum" sz="quarter" idx="4294967295"/>
          </p:nvPr>
        </p:nvSpPr>
        <p:spPr>
          <a:xfrm>
            <a:off x="11384280" y="6473952"/>
            <a:ext cx="32004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525973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cxnSp>
        <p:nvCxnSpPr>
          <p:cNvPr id="73" name="接點: 肘形 72"/>
          <p:cNvCxnSpPr>
            <a:stCxn id="43" idx="3"/>
            <a:endCxn id="56" idx="3"/>
          </p:cNvCxnSpPr>
          <p:nvPr/>
        </p:nvCxnSpPr>
        <p:spPr>
          <a:xfrm>
            <a:off x="11334750" y="2000250"/>
            <a:ext cx="228600" cy="3595688"/>
          </a:xfrm>
          <a:prstGeom prst="bentConnector4">
            <a:avLst/>
          </a:prstGeom>
          <a:ln w="19050">
            <a:solidFill>
              <a:srgbClr val="2F7C78"/>
            </a:solidFill>
            <a:prstDash val="dash"/>
            <a:headEnd type="none" w="med" len="med"/>
            <a:tailEnd type="triangle" w="sm" len="sm"/>
          </a:ln>
        </p:spPr>
      </p:cxnSp>
      <p:cxnSp>
        <p:nvCxnSpPr>
          <p:cNvPr id="74" name="直線單箭頭接點 73"/>
          <p:cNvCxnSpPr>
            <a:stCxn id="50" idx="2"/>
            <a:endCxn id="56" idx="0"/>
          </p:cNvCxnSpPr>
          <p:nvPr/>
        </p:nvCxnSpPr>
        <p:spPr>
          <a:xfrm>
            <a:off x="6000750" y="4343400"/>
            <a:ext cx="0" cy="628650"/>
          </a:xfrm>
          <a:prstGeom prst="straightConnector1">
            <a:avLst/>
          </a:prstGeom>
          <a:ln w="19050">
            <a:solidFill>
              <a:srgbClr val="5B6573"/>
            </a:solidFill>
            <a:prstDash val="solid"/>
            <a:headEnd type="none" w="med" len="med"/>
            <a:tailEnd type="triangle" w="sm" len="sm"/>
          </a:ln>
        </p:spPr>
      </p:cxnSp>
      <p:cxnSp>
        <p:nvCxnSpPr>
          <p:cNvPr id="75" name="直線單箭頭接點 74"/>
          <p:cNvCxnSpPr>
            <a:stCxn id="43" idx="2"/>
            <a:endCxn id="66" idx="0"/>
          </p:cNvCxnSpPr>
          <p:nvPr/>
        </p:nvCxnSpPr>
        <p:spPr>
          <a:xfrm>
            <a:off x="9525000" y="2571750"/>
            <a:ext cx="0" cy="657225"/>
          </a:xfrm>
          <a:prstGeom prst="straightConnector1">
            <a:avLst/>
          </a:prstGeom>
          <a:ln w="19050">
            <a:solidFill>
              <a:srgbClr val="5B6573"/>
            </a:solidFill>
            <a:prstDash val="solid"/>
            <a:headEnd type="none" w="med" len="med"/>
            <a:tailEnd type="triangle" w="sm" len="sm"/>
          </a:ln>
        </p:spPr>
      </p:cxnSp>
      <p:cxnSp>
        <p:nvCxnSpPr>
          <p:cNvPr id="76" name="直線單箭頭接點 75"/>
          <p:cNvCxnSpPr>
            <a:stCxn id="42" idx="2"/>
            <a:endCxn id="63" idx="0"/>
          </p:cNvCxnSpPr>
          <p:nvPr/>
        </p:nvCxnSpPr>
        <p:spPr>
          <a:xfrm>
            <a:off x="5667375" y="2571750"/>
            <a:ext cx="0" cy="657225"/>
          </a:xfrm>
          <a:prstGeom prst="straightConnector1">
            <a:avLst/>
          </a:prstGeom>
          <a:ln w="19050">
            <a:solidFill>
              <a:srgbClr val="5B6573"/>
            </a:solidFill>
            <a:prstDash val="solid"/>
            <a:headEnd type="none" w="med" len="med"/>
            <a:tailEnd type="triangle" w="sm" len="sm"/>
          </a:ln>
        </p:spPr>
      </p:cxnSp>
      <p:cxnSp>
        <p:nvCxnSpPr>
          <p:cNvPr id="77" name="直線單箭頭接點 76"/>
          <p:cNvCxnSpPr>
            <a:stCxn id="41" idx="2"/>
            <a:endCxn id="60" idx="0"/>
          </p:cNvCxnSpPr>
          <p:nvPr/>
        </p:nvCxnSpPr>
        <p:spPr>
          <a:xfrm>
            <a:off x="2143125" y="2571750"/>
            <a:ext cx="0" cy="657225"/>
          </a:xfrm>
          <a:prstGeom prst="straightConnector1">
            <a:avLst/>
          </a:prstGeom>
          <a:ln w="19050">
            <a:solidFill>
              <a:srgbClr val="5B6573"/>
            </a:solidFill>
            <a:prstDash val="solid"/>
            <a:headEnd type="none" w="med" len="med"/>
            <a:tailEnd type="triangle" w="sm" len="sm"/>
          </a:ln>
        </p:spPr>
      </p:cxnSp>
      <p:sp>
        <p:nvSpPr>
          <p:cNvPr id="2" name="Text 0">
            <a:extLst>
              <a:ext uri="{FF2B5EF4-FFF2-40B4-BE49-F238E27FC236}">
                <a16:creationId xmlns:a16="http://schemas.microsoft.com/office/drawing/2014/main" id="{7AEF89C7-3339-4731-AD6D-72413E3EEAD4}"/>
              </a:ext>
            </a:extLst>
          </p:cNvPr>
          <p:cNvSpPr>
            <a:spLocks noGrp="1"/>
          </p:cNvSpPr>
          <p:nvPr/>
        </p:nvSpPr>
        <p:spPr>
          <a:xfrm>
            <a:off x="594360" y="384048"/>
            <a:ext cx="10972800" cy="438912"/>
          </a:xfrm>
          <a:prstGeom prst="rect">
            <a:avLst/>
          </a:prstGeom>
          <a:noFill/>
        </p:spPr>
        <p:txBody>
          <a:bodyPr wrap="square" lIns="0" tIns="0" rIns="0" bIns="0" anchor="ctr"/>
          <a:lstStyle/>
          <a:p>
            <a:pPr marL="0" indent="0">
              <a:buNone/>
            </a:pPr>
            <a:r>
              <a:rPr sz="2600" b="1">
                <a:solidFill>
                  <a:srgbClr val="1F2937"/>
                </a:solidFill>
                <a:latin typeface="Aptos Display"/>
                <a:ea typeface="Aptos Display"/>
                <a:cs typeface="Aptos Display"/>
              </a:rPr>
              <a:t>System Overview</a:t>
            </a:r>
            <a:endParaRPr sz="2600"/>
          </a:p>
        </p:txBody>
      </p:sp>
      <p:sp>
        <p:nvSpPr>
          <p:cNvPr id="3" name="Text 1">
            <a:extLst>
              <a:ext uri="{FF2B5EF4-FFF2-40B4-BE49-F238E27FC236}">
                <a16:creationId xmlns:a16="http://schemas.microsoft.com/office/drawing/2014/main" id="{EB991354-B3CA-4985-872D-D3B332B3AFA5}"/>
              </a:ext>
            </a:extLst>
          </p:cNvPr>
          <p:cNvSpPr>
            <a:spLocks noGrp="1"/>
          </p:cNvSpPr>
          <p:nvPr/>
        </p:nvSpPr>
        <p:spPr>
          <a:xfrm>
            <a:off x="621792" y="841248"/>
            <a:ext cx="10789920" cy="274320"/>
          </a:xfrm>
          <a:prstGeom prst="rect">
            <a:avLst/>
          </a:prstGeom>
          <a:noFill/>
        </p:spPr>
        <p:txBody>
          <a:bodyPr wrap="square" lIns="0" tIns="0" rIns="0" bIns="0" anchor="ctr"/>
          <a:lstStyle/>
          <a:p>
            <a:pPr marL="0" indent="0">
              <a:buNone/>
            </a:pPr>
            <a:r>
              <a:rPr sz="1200">
                <a:solidFill>
                  <a:srgbClr val="6B7280"/>
                </a:solidFill>
                <a:latin typeface="Aptos"/>
                <a:ea typeface="Aptos"/>
                <a:cs typeface="Aptos"/>
              </a:rPr>
              <a:t>Three access paths share one scheduler and a dynamically allocated worker pool.</a:t>
            </a:r>
            <a:endParaRPr sz="1200"/>
          </a:p>
        </p:txBody>
      </p:sp>
      <p:sp>
        <p:nvSpPr>
          <p:cNvPr id="4" name="Shape 2">
            <a:extLst>
              <a:ext uri="{FF2B5EF4-FFF2-40B4-BE49-F238E27FC236}">
                <a16:creationId xmlns:a16="http://schemas.microsoft.com/office/drawing/2014/main" id="{1FE1A953-4AF1-4024-A0A4-70F3FD23749C}"/>
              </a:ext>
            </a:extLst>
          </p:cNvPr>
          <p:cNvSpPr>
            <a:spLocks noGrp="1"/>
          </p:cNvSpPr>
          <p:nvPr/>
        </p:nvSpPr>
        <p:spPr>
          <a:xfrm>
            <a:off x="594360" y="1417320"/>
            <a:ext cx="1920240" cy="1097280"/>
          </a:xfrm>
          <a:prstGeom prst="roundRect">
            <a:avLst>
              <a:gd name="adj" fmla="val 6667"/>
            </a:avLst>
          </a:prstGeom>
          <a:noFill/>
          <a:ln w="0">
            <a:noFill/>
          </a:ln>
        </p:spPr>
        <p:txBody>
          <a:bodyPr/>
          <a:lstStyle/>
          <a:p>
            <a:endParaRPr/>
          </a:p>
        </p:txBody>
      </p:sp>
      <p:sp>
        <p:nvSpPr>
          <p:cNvPr id="5" name="Text 3">
            <a:extLst>
              <a:ext uri="{FF2B5EF4-FFF2-40B4-BE49-F238E27FC236}">
                <a16:creationId xmlns:a16="http://schemas.microsoft.com/office/drawing/2014/main" id="{23A9DE0D-415F-4D46-B080-7258EA2076BE}"/>
              </a:ext>
            </a:extLst>
          </p:cNvPr>
          <p:cNvSpPr>
            <a:spLocks noGrp="1"/>
          </p:cNvSpPr>
          <p:nvPr/>
        </p:nvSpPr>
        <p:spPr>
          <a:xfrm>
            <a:off x="758952" y="1545336"/>
            <a:ext cx="1591056" cy="274320"/>
          </a:xfrm>
          <a:prstGeom prst="rect">
            <a:avLst/>
          </a:prstGeom>
          <a:noFill/>
        </p:spPr>
        <p:txBody>
          <a:bodyPr wrap="square" lIns="0" tIns="0" rIns="0" bIns="0" anchor="ctr"/>
          <a:lstStyle/>
          <a:p>
            <a:pPr marL="0" indent="0">
              <a:buNone/>
            </a:pPr>
            <a:endParaRPr sz="1600"/>
          </a:p>
        </p:txBody>
      </p:sp>
      <p:sp>
        <p:nvSpPr>
          <p:cNvPr id="6" name="Text 4">
            <a:extLst>
              <a:ext uri="{FF2B5EF4-FFF2-40B4-BE49-F238E27FC236}">
                <a16:creationId xmlns:a16="http://schemas.microsoft.com/office/drawing/2014/main" id="{B34A6901-DC86-41D8-9445-A1719C6D6978}"/>
              </a:ext>
            </a:extLst>
          </p:cNvPr>
          <p:cNvSpPr>
            <a:spLocks noGrp="1"/>
          </p:cNvSpPr>
          <p:nvPr/>
        </p:nvSpPr>
        <p:spPr>
          <a:xfrm>
            <a:off x="758952" y="1892808"/>
            <a:ext cx="1591056" cy="493776"/>
          </a:xfrm>
          <a:prstGeom prst="rect">
            <a:avLst/>
          </a:prstGeom>
          <a:noFill/>
        </p:spPr>
        <p:txBody>
          <a:bodyPr wrap="square" lIns="254" tIns="254" rIns="254" bIns="254" anchor="ctr"/>
          <a:lstStyle/>
          <a:p>
            <a:pPr marL="0" indent="0">
              <a:buNone/>
            </a:pPr>
            <a:endParaRPr sz="1250"/>
          </a:p>
        </p:txBody>
      </p:sp>
      <p:sp>
        <p:nvSpPr>
          <p:cNvPr id="7" name="Shape 5">
            <a:extLst>
              <a:ext uri="{FF2B5EF4-FFF2-40B4-BE49-F238E27FC236}">
                <a16:creationId xmlns:a16="http://schemas.microsoft.com/office/drawing/2014/main" id="{AAAE4B88-C0B2-4700-B139-41731AC58F3B}"/>
              </a:ext>
            </a:extLst>
          </p:cNvPr>
          <p:cNvSpPr>
            <a:spLocks noGrp="1"/>
          </p:cNvSpPr>
          <p:nvPr/>
        </p:nvSpPr>
        <p:spPr>
          <a:xfrm>
            <a:off x="2880360" y="1417320"/>
            <a:ext cx="1874520" cy="1097280"/>
          </a:xfrm>
          <a:prstGeom prst="roundRect">
            <a:avLst>
              <a:gd name="adj" fmla="val 6667"/>
            </a:avLst>
          </a:prstGeom>
          <a:noFill/>
          <a:ln w="0">
            <a:noFill/>
          </a:ln>
        </p:spPr>
        <p:txBody>
          <a:bodyPr/>
          <a:lstStyle/>
          <a:p>
            <a:endParaRPr/>
          </a:p>
        </p:txBody>
      </p:sp>
      <p:sp>
        <p:nvSpPr>
          <p:cNvPr id="8" name="Text 6">
            <a:extLst>
              <a:ext uri="{FF2B5EF4-FFF2-40B4-BE49-F238E27FC236}">
                <a16:creationId xmlns:a16="http://schemas.microsoft.com/office/drawing/2014/main" id="{C459D823-AAE4-4E6A-9D49-13B62548BF7B}"/>
              </a:ext>
            </a:extLst>
          </p:cNvPr>
          <p:cNvSpPr>
            <a:spLocks noGrp="1"/>
          </p:cNvSpPr>
          <p:nvPr/>
        </p:nvSpPr>
        <p:spPr>
          <a:xfrm>
            <a:off x="3044952" y="1545336"/>
            <a:ext cx="1545336" cy="274320"/>
          </a:xfrm>
          <a:prstGeom prst="rect">
            <a:avLst/>
          </a:prstGeom>
          <a:noFill/>
        </p:spPr>
        <p:txBody>
          <a:bodyPr wrap="square" lIns="0" tIns="0" rIns="0" bIns="0" anchor="ctr"/>
          <a:lstStyle/>
          <a:p>
            <a:pPr marL="0" indent="0">
              <a:buNone/>
            </a:pPr>
            <a:endParaRPr sz="1600"/>
          </a:p>
        </p:txBody>
      </p:sp>
      <p:sp>
        <p:nvSpPr>
          <p:cNvPr id="9" name="Text 7">
            <a:extLst>
              <a:ext uri="{FF2B5EF4-FFF2-40B4-BE49-F238E27FC236}">
                <a16:creationId xmlns:a16="http://schemas.microsoft.com/office/drawing/2014/main" id="{E62039C3-356A-45C9-BD9C-E088AF946130}"/>
              </a:ext>
            </a:extLst>
          </p:cNvPr>
          <p:cNvSpPr>
            <a:spLocks noGrp="1"/>
          </p:cNvSpPr>
          <p:nvPr/>
        </p:nvSpPr>
        <p:spPr>
          <a:xfrm>
            <a:off x="3044952" y="1892808"/>
            <a:ext cx="1545336" cy="493776"/>
          </a:xfrm>
          <a:prstGeom prst="rect">
            <a:avLst/>
          </a:prstGeom>
          <a:noFill/>
        </p:spPr>
        <p:txBody>
          <a:bodyPr wrap="square" lIns="254" tIns="254" rIns="254" bIns="254" anchor="ctr"/>
          <a:lstStyle/>
          <a:p>
            <a:pPr marL="0" indent="0">
              <a:buNone/>
            </a:pPr>
            <a:endParaRPr sz="1250"/>
          </a:p>
        </p:txBody>
      </p:sp>
      <p:sp>
        <p:nvSpPr>
          <p:cNvPr id="10" name="Shape 8">
            <a:extLst>
              <a:ext uri="{FF2B5EF4-FFF2-40B4-BE49-F238E27FC236}">
                <a16:creationId xmlns:a16="http://schemas.microsoft.com/office/drawing/2014/main" id="{CD178672-8D90-4D02-899C-96E104E9E1EF}"/>
              </a:ext>
            </a:extLst>
          </p:cNvPr>
          <p:cNvSpPr>
            <a:spLocks noGrp="1"/>
          </p:cNvSpPr>
          <p:nvPr/>
        </p:nvSpPr>
        <p:spPr>
          <a:xfrm>
            <a:off x="5212080" y="1143000"/>
            <a:ext cx="2331720" cy="1645920"/>
          </a:xfrm>
          <a:prstGeom prst="roundRect">
            <a:avLst>
              <a:gd name="adj" fmla="val 4444"/>
            </a:avLst>
          </a:prstGeom>
          <a:noFill/>
          <a:ln w="0">
            <a:noFill/>
          </a:ln>
        </p:spPr>
        <p:txBody>
          <a:bodyPr/>
          <a:lstStyle/>
          <a:p>
            <a:endParaRPr/>
          </a:p>
        </p:txBody>
      </p:sp>
      <p:sp>
        <p:nvSpPr>
          <p:cNvPr id="11" name="Text 9">
            <a:extLst>
              <a:ext uri="{FF2B5EF4-FFF2-40B4-BE49-F238E27FC236}">
                <a16:creationId xmlns:a16="http://schemas.microsoft.com/office/drawing/2014/main" id="{5E79E984-B39C-499A-922A-89AD8303142F}"/>
              </a:ext>
            </a:extLst>
          </p:cNvPr>
          <p:cNvSpPr>
            <a:spLocks noGrp="1"/>
          </p:cNvSpPr>
          <p:nvPr/>
        </p:nvSpPr>
        <p:spPr>
          <a:xfrm>
            <a:off x="5376672" y="1271016"/>
            <a:ext cx="2002536" cy="274320"/>
          </a:xfrm>
          <a:prstGeom prst="rect">
            <a:avLst/>
          </a:prstGeom>
          <a:noFill/>
        </p:spPr>
        <p:txBody>
          <a:bodyPr wrap="square" lIns="0" tIns="0" rIns="0" bIns="0" anchor="ctr"/>
          <a:lstStyle/>
          <a:p>
            <a:pPr marL="0" indent="0">
              <a:buNone/>
            </a:pPr>
            <a:endParaRPr sz="1600"/>
          </a:p>
        </p:txBody>
      </p:sp>
      <p:sp>
        <p:nvSpPr>
          <p:cNvPr id="12" name="Text 10">
            <a:extLst>
              <a:ext uri="{FF2B5EF4-FFF2-40B4-BE49-F238E27FC236}">
                <a16:creationId xmlns:a16="http://schemas.microsoft.com/office/drawing/2014/main" id="{DE35831A-0B66-4B01-937B-A4E69D275CE6}"/>
              </a:ext>
            </a:extLst>
          </p:cNvPr>
          <p:cNvSpPr>
            <a:spLocks noGrp="1"/>
          </p:cNvSpPr>
          <p:nvPr/>
        </p:nvSpPr>
        <p:spPr>
          <a:xfrm>
            <a:off x="5376672" y="1618488"/>
            <a:ext cx="2002536" cy="1042416"/>
          </a:xfrm>
          <a:prstGeom prst="rect">
            <a:avLst/>
          </a:prstGeom>
          <a:noFill/>
        </p:spPr>
        <p:txBody>
          <a:bodyPr wrap="square" lIns="254" tIns="254" rIns="254" bIns="254" anchor="ctr"/>
          <a:lstStyle/>
          <a:p>
            <a:pPr marL="0" indent="0">
              <a:buNone/>
            </a:pPr>
            <a:endParaRPr sz="1250"/>
          </a:p>
        </p:txBody>
      </p:sp>
      <p:sp>
        <p:nvSpPr>
          <p:cNvPr id="13" name="Shape 11">
            <a:extLst>
              <a:ext uri="{FF2B5EF4-FFF2-40B4-BE49-F238E27FC236}">
                <a16:creationId xmlns:a16="http://schemas.microsoft.com/office/drawing/2014/main" id="{66CDA9AF-82BD-4397-8BEC-ABD58F55D15E}"/>
              </a:ext>
            </a:extLst>
          </p:cNvPr>
          <p:cNvSpPr>
            <a:spLocks noGrp="1"/>
          </p:cNvSpPr>
          <p:nvPr/>
        </p:nvSpPr>
        <p:spPr>
          <a:xfrm>
            <a:off x="8001000" y="1417320"/>
            <a:ext cx="1920240" cy="1097280"/>
          </a:xfrm>
          <a:prstGeom prst="roundRect">
            <a:avLst>
              <a:gd name="adj" fmla="val 6667"/>
            </a:avLst>
          </a:prstGeom>
          <a:noFill/>
          <a:ln w="0">
            <a:noFill/>
          </a:ln>
        </p:spPr>
        <p:txBody>
          <a:bodyPr/>
          <a:lstStyle/>
          <a:p>
            <a:endParaRPr/>
          </a:p>
        </p:txBody>
      </p:sp>
      <p:sp>
        <p:nvSpPr>
          <p:cNvPr id="14" name="Text 12">
            <a:extLst>
              <a:ext uri="{FF2B5EF4-FFF2-40B4-BE49-F238E27FC236}">
                <a16:creationId xmlns:a16="http://schemas.microsoft.com/office/drawing/2014/main" id="{75B28BCA-1FA2-4576-90D5-EB1FF5A0FCA2}"/>
              </a:ext>
            </a:extLst>
          </p:cNvPr>
          <p:cNvSpPr>
            <a:spLocks noGrp="1"/>
          </p:cNvSpPr>
          <p:nvPr/>
        </p:nvSpPr>
        <p:spPr>
          <a:xfrm>
            <a:off x="8165592" y="1545336"/>
            <a:ext cx="1591056" cy="274320"/>
          </a:xfrm>
          <a:prstGeom prst="rect">
            <a:avLst/>
          </a:prstGeom>
          <a:noFill/>
        </p:spPr>
        <p:txBody>
          <a:bodyPr wrap="square" lIns="0" tIns="0" rIns="0" bIns="0" anchor="ctr"/>
          <a:lstStyle/>
          <a:p>
            <a:pPr marL="0" indent="0">
              <a:buNone/>
            </a:pPr>
            <a:endParaRPr sz="1600"/>
          </a:p>
        </p:txBody>
      </p:sp>
      <p:sp>
        <p:nvSpPr>
          <p:cNvPr id="15" name="Text 13">
            <a:extLst>
              <a:ext uri="{FF2B5EF4-FFF2-40B4-BE49-F238E27FC236}">
                <a16:creationId xmlns:a16="http://schemas.microsoft.com/office/drawing/2014/main" id="{ED7BA2EB-6033-4639-ADCC-B63AAEC27C27}"/>
              </a:ext>
            </a:extLst>
          </p:cNvPr>
          <p:cNvSpPr>
            <a:spLocks noGrp="1"/>
          </p:cNvSpPr>
          <p:nvPr/>
        </p:nvSpPr>
        <p:spPr>
          <a:xfrm>
            <a:off x="8165592" y="1892808"/>
            <a:ext cx="1591056" cy="493776"/>
          </a:xfrm>
          <a:prstGeom prst="rect">
            <a:avLst/>
          </a:prstGeom>
          <a:noFill/>
        </p:spPr>
        <p:txBody>
          <a:bodyPr wrap="square" lIns="254" tIns="254" rIns="254" bIns="254" anchor="ctr"/>
          <a:lstStyle/>
          <a:p>
            <a:pPr marL="0" indent="0">
              <a:buNone/>
            </a:pPr>
            <a:endParaRPr sz="1250"/>
          </a:p>
        </p:txBody>
      </p:sp>
      <p:sp>
        <p:nvSpPr>
          <p:cNvPr id="16" name="Shape 14">
            <a:extLst>
              <a:ext uri="{FF2B5EF4-FFF2-40B4-BE49-F238E27FC236}">
                <a16:creationId xmlns:a16="http://schemas.microsoft.com/office/drawing/2014/main" id="{6B7341AC-96E7-4EA2-A5A5-FB5964FB1CF3}"/>
              </a:ext>
            </a:extLst>
          </p:cNvPr>
          <p:cNvSpPr>
            <a:spLocks noGrp="1"/>
          </p:cNvSpPr>
          <p:nvPr/>
        </p:nvSpPr>
        <p:spPr>
          <a:xfrm>
            <a:off x="2514600" y="1965960"/>
            <a:ext cx="365760" cy="0"/>
          </a:xfrm>
          <a:prstGeom prst="line">
            <a:avLst/>
          </a:prstGeom>
          <a:noFill/>
          <a:ln w="0">
            <a:noFill/>
            <a:headEnd type="none"/>
            <a:tailEnd type="triangle"/>
          </a:ln>
        </p:spPr>
        <p:txBody>
          <a:bodyPr/>
          <a:lstStyle/>
          <a:p>
            <a:endParaRPr/>
          </a:p>
        </p:txBody>
      </p:sp>
      <p:sp>
        <p:nvSpPr>
          <p:cNvPr id="17" name="Shape 15">
            <a:extLst>
              <a:ext uri="{FF2B5EF4-FFF2-40B4-BE49-F238E27FC236}">
                <a16:creationId xmlns:a16="http://schemas.microsoft.com/office/drawing/2014/main" id="{4B289CB8-C898-45F3-A337-DCA425E1AC52}"/>
              </a:ext>
            </a:extLst>
          </p:cNvPr>
          <p:cNvSpPr>
            <a:spLocks noGrp="1"/>
          </p:cNvSpPr>
          <p:nvPr/>
        </p:nvSpPr>
        <p:spPr>
          <a:xfrm>
            <a:off x="4754880" y="1965960"/>
            <a:ext cx="457200" cy="0"/>
          </a:xfrm>
          <a:prstGeom prst="line">
            <a:avLst/>
          </a:prstGeom>
          <a:noFill/>
          <a:ln w="0">
            <a:noFill/>
            <a:headEnd type="none"/>
            <a:tailEnd type="triangle"/>
          </a:ln>
        </p:spPr>
        <p:txBody>
          <a:bodyPr/>
          <a:lstStyle/>
          <a:p>
            <a:endParaRPr/>
          </a:p>
        </p:txBody>
      </p:sp>
      <p:sp>
        <p:nvSpPr>
          <p:cNvPr id="18" name="Shape 16">
            <a:extLst>
              <a:ext uri="{FF2B5EF4-FFF2-40B4-BE49-F238E27FC236}">
                <a16:creationId xmlns:a16="http://schemas.microsoft.com/office/drawing/2014/main" id="{F01C9080-F24D-48E6-B286-27F23A10E8F9}"/>
              </a:ext>
            </a:extLst>
          </p:cNvPr>
          <p:cNvSpPr>
            <a:spLocks noGrp="1"/>
          </p:cNvSpPr>
          <p:nvPr/>
        </p:nvSpPr>
        <p:spPr>
          <a:xfrm>
            <a:off x="7543800" y="1965960"/>
            <a:ext cx="457200" cy="0"/>
          </a:xfrm>
          <a:prstGeom prst="line">
            <a:avLst/>
          </a:prstGeom>
          <a:noFill/>
          <a:ln w="0">
            <a:noFill/>
            <a:headEnd type="none"/>
            <a:tailEnd type="triangle"/>
          </a:ln>
        </p:spPr>
        <p:txBody>
          <a:bodyPr/>
          <a:lstStyle/>
          <a:p>
            <a:endParaRPr/>
          </a:p>
        </p:txBody>
      </p:sp>
      <p:sp>
        <p:nvSpPr>
          <p:cNvPr id="19" name="Shape 17">
            <a:extLst>
              <a:ext uri="{FF2B5EF4-FFF2-40B4-BE49-F238E27FC236}">
                <a16:creationId xmlns:a16="http://schemas.microsoft.com/office/drawing/2014/main" id="{78528B55-AE02-4472-AF3F-22320B07A613}"/>
              </a:ext>
            </a:extLst>
          </p:cNvPr>
          <p:cNvSpPr>
            <a:spLocks noGrp="1"/>
          </p:cNvSpPr>
          <p:nvPr/>
        </p:nvSpPr>
        <p:spPr>
          <a:xfrm>
            <a:off x="1143000" y="3703320"/>
            <a:ext cx="9464040" cy="1874520"/>
          </a:xfrm>
          <a:prstGeom prst="roundRect">
            <a:avLst>
              <a:gd name="adj" fmla="val 4878"/>
            </a:avLst>
          </a:prstGeom>
          <a:noFill/>
          <a:ln w="0">
            <a:noFill/>
          </a:ln>
        </p:spPr>
        <p:txBody>
          <a:bodyPr/>
          <a:lstStyle/>
          <a:p>
            <a:endParaRPr/>
          </a:p>
        </p:txBody>
      </p:sp>
      <p:sp>
        <p:nvSpPr>
          <p:cNvPr id="20" name="Text 18">
            <a:extLst>
              <a:ext uri="{FF2B5EF4-FFF2-40B4-BE49-F238E27FC236}">
                <a16:creationId xmlns:a16="http://schemas.microsoft.com/office/drawing/2014/main" id="{1FF33C1F-897B-41D1-99F5-3D6764989C70}"/>
              </a:ext>
            </a:extLst>
          </p:cNvPr>
          <p:cNvSpPr>
            <a:spLocks noGrp="1"/>
          </p:cNvSpPr>
          <p:nvPr/>
        </p:nvSpPr>
        <p:spPr>
          <a:xfrm>
            <a:off x="1417320" y="3794760"/>
            <a:ext cx="1463040" cy="274320"/>
          </a:xfrm>
          <a:prstGeom prst="rect">
            <a:avLst/>
          </a:prstGeom>
          <a:noFill/>
        </p:spPr>
        <p:txBody>
          <a:bodyPr wrap="square" lIns="0" tIns="0" rIns="0" bIns="0" anchor="ctr"/>
          <a:lstStyle/>
          <a:p>
            <a:pPr marL="0" indent="0">
              <a:buNone/>
            </a:pPr>
            <a:endParaRPr sz="1600"/>
          </a:p>
        </p:txBody>
      </p:sp>
      <p:sp>
        <p:nvSpPr>
          <p:cNvPr id="21" name="Shape 19">
            <a:extLst>
              <a:ext uri="{FF2B5EF4-FFF2-40B4-BE49-F238E27FC236}">
                <a16:creationId xmlns:a16="http://schemas.microsoft.com/office/drawing/2014/main" id="{AD14F3F2-EFE1-4770-8B55-BC9B0152A884}"/>
              </a:ext>
            </a:extLst>
          </p:cNvPr>
          <p:cNvSpPr>
            <a:spLocks noGrp="1"/>
          </p:cNvSpPr>
          <p:nvPr/>
        </p:nvSpPr>
        <p:spPr>
          <a:xfrm>
            <a:off x="1417320" y="4224528"/>
            <a:ext cx="2377440" cy="960120"/>
          </a:xfrm>
          <a:prstGeom prst="roundRect">
            <a:avLst>
              <a:gd name="adj" fmla="val 7619"/>
            </a:avLst>
          </a:prstGeom>
          <a:noFill/>
          <a:ln w="0">
            <a:noFill/>
          </a:ln>
        </p:spPr>
        <p:txBody>
          <a:bodyPr/>
          <a:lstStyle/>
          <a:p>
            <a:endParaRPr/>
          </a:p>
        </p:txBody>
      </p:sp>
      <p:sp>
        <p:nvSpPr>
          <p:cNvPr id="22" name="Text 20">
            <a:extLst>
              <a:ext uri="{FF2B5EF4-FFF2-40B4-BE49-F238E27FC236}">
                <a16:creationId xmlns:a16="http://schemas.microsoft.com/office/drawing/2014/main" id="{151A470F-D22B-48F6-BC99-ADF045683E41}"/>
              </a:ext>
            </a:extLst>
          </p:cNvPr>
          <p:cNvSpPr>
            <a:spLocks noGrp="1"/>
          </p:cNvSpPr>
          <p:nvPr/>
        </p:nvSpPr>
        <p:spPr>
          <a:xfrm>
            <a:off x="1581912" y="4352544"/>
            <a:ext cx="2048256" cy="274320"/>
          </a:xfrm>
          <a:prstGeom prst="rect">
            <a:avLst/>
          </a:prstGeom>
          <a:noFill/>
        </p:spPr>
        <p:txBody>
          <a:bodyPr wrap="square" lIns="0" tIns="0" rIns="0" bIns="0" anchor="ctr"/>
          <a:lstStyle/>
          <a:p>
            <a:pPr marL="0" indent="0">
              <a:buNone/>
            </a:pPr>
            <a:endParaRPr sz="1600"/>
          </a:p>
        </p:txBody>
      </p:sp>
      <p:sp>
        <p:nvSpPr>
          <p:cNvPr id="23" name="Text 21">
            <a:extLst>
              <a:ext uri="{FF2B5EF4-FFF2-40B4-BE49-F238E27FC236}">
                <a16:creationId xmlns:a16="http://schemas.microsoft.com/office/drawing/2014/main" id="{AE0AFE0A-915C-4E63-B9FC-5D169B8895E9}"/>
              </a:ext>
            </a:extLst>
          </p:cNvPr>
          <p:cNvSpPr>
            <a:spLocks noGrp="1"/>
          </p:cNvSpPr>
          <p:nvPr/>
        </p:nvSpPr>
        <p:spPr>
          <a:xfrm>
            <a:off x="1581912" y="4700016"/>
            <a:ext cx="2048256" cy="356616"/>
          </a:xfrm>
          <a:prstGeom prst="rect">
            <a:avLst/>
          </a:prstGeom>
          <a:noFill/>
        </p:spPr>
        <p:txBody>
          <a:bodyPr wrap="square" lIns="254" tIns="254" rIns="254" bIns="254" anchor="ctr"/>
          <a:lstStyle/>
          <a:p>
            <a:pPr marL="0" indent="0">
              <a:buNone/>
            </a:pPr>
            <a:endParaRPr sz="1250"/>
          </a:p>
        </p:txBody>
      </p:sp>
      <p:sp>
        <p:nvSpPr>
          <p:cNvPr id="24" name="Shape 22">
            <a:extLst>
              <a:ext uri="{FF2B5EF4-FFF2-40B4-BE49-F238E27FC236}">
                <a16:creationId xmlns:a16="http://schemas.microsoft.com/office/drawing/2014/main" id="{228932F1-59D4-473C-99D2-74956190AE3B}"/>
              </a:ext>
            </a:extLst>
          </p:cNvPr>
          <p:cNvSpPr>
            <a:spLocks noGrp="1"/>
          </p:cNvSpPr>
          <p:nvPr/>
        </p:nvSpPr>
        <p:spPr>
          <a:xfrm>
            <a:off x="4572000" y="4224528"/>
            <a:ext cx="2377440" cy="960120"/>
          </a:xfrm>
          <a:prstGeom prst="roundRect">
            <a:avLst>
              <a:gd name="adj" fmla="val 7619"/>
            </a:avLst>
          </a:prstGeom>
          <a:noFill/>
          <a:ln w="0">
            <a:noFill/>
          </a:ln>
        </p:spPr>
        <p:txBody>
          <a:bodyPr/>
          <a:lstStyle/>
          <a:p>
            <a:endParaRPr/>
          </a:p>
        </p:txBody>
      </p:sp>
      <p:sp>
        <p:nvSpPr>
          <p:cNvPr id="25" name="Text 23">
            <a:extLst>
              <a:ext uri="{FF2B5EF4-FFF2-40B4-BE49-F238E27FC236}">
                <a16:creationId xmlns:a16="http://schemas.microsoft.com/office/drawing/2014/main" id="{90F1E9C1-409E-4A1A-9E6A-9565EDF994A0}"/>
              </a:ext>
            </a:extLst>
          </p:cNvPr>
          <p:cNvSpPr>
            <a:spLocks noGrp="1"/>
          </p:cNvSpPr>
          <p:nvPr/>
        </p:nvSpPr>
        <p:spPr>
          <a:xfrm>
            <a:off x="4736592" y="4352544"/>
            <a:ext cx="2048256" cy="274320"/>
          </a:xfrm>
          <a:prstGeom prst="rect">
            <a:avLst/>
          </a:prstGeom>
          <a:noFill/>
        </p:spPr>
        <p:txBody>
          <a:bodyPr wrap="square" lIns="0" tIns="0" rIns="0" bIns="0" anchor="ctr"/>
          <a:lstStyle/>
          <a:p>
            <a:pPr marL="0" indent="0">
              <a:buNone/>
            </a:pPr>
            <a:endParaRPr sz="1600"/>
          </a:p>
        </p:txBody>
      </p:sp>
      <p:sp>
        <p:nvSpPr>
          <p:cNvPr id="26" name="Text 24">
            <a:extLst>
              <a:ext uri="{FF2B5EF4-FFF2-40B4-BE49-F238E27FC236}">
                <a16:creationId xmlns:a16="http://schemas.microsoft.com/office/drawing/2014/main" id="{0D45914E-6E8C-4927-A2A0-3DA48A7B64F0}"/>
              </a:ext>
            </a:extLst>
          </p:cNvPr>
          <p:cNvSpPr>
            <a:spLocks noGrp="1"/>
          </p:cNvSpPr>
          <p:nvPr/>
        </p:nvSpPr>
        <p:spPr>
          <a:xfrm>
            <a:off x="4736592" y="4700016"/>
            <a:ext cx="2048256" cy="356616"/>
          </a:xfrm>
          <a:prstGeom prst="rect">
            <a:avLst/>
          </a:prstGeom>
          <a:noFill/>
        </p:spPr>
        <p:txBody>
          <a:bodyPr wrap="square" lIns="254" tIns="254" rIns="254" bIns="254" anchor="ctr"/>
          <a:lstStyle/>
          <a:p>
            <a:pPr marL="0" indent="0">
              <a:buNone/>
            </a:pPr>
            <a:endParaRPr sz="1250"/>
          </a:p>
        </p:txBody>
      </p:sp>
      <p:sp>
        <p:nvSpPr>
          <p:cNvPr id="27" name="Shape 25">
            <a:extLst>
              <a:ext uri="{FF2B5EF4-FFF2-40B4-BE49-F238E27FC236}">
                <a16:creationId xmlns:a16="http://schemas.microsoft.com/office/drawing/2014/main" id="{17C8BEC5-7EA7-44A7-949F-64FD0D06E3E3}"/>
              </a:ext>
            </a:extLst>
          </p:cNvPr>
          <p:cNvSpPr>
            <a:spLocks noGrp="1"/>
          </p:cNvSpPr>
          <p:nvPr/>
        </p:nvSpPr>
        <p:spPr>
          <a:xfrm>
            <a:off x="7726680" y="4224528"/>
            <a:ext cx="2377440" cy="960120"/>
          </a:xfrm>
          <a:prstGeom prst="roundRect">
            <a:avLst>
              <a:gd name="adj" fmla="val 7619"/>
            </a:avLst>
          </a:prstGeom>
          <a:noFill/>
          <a:ln w="0">
            <a:noFill/>
          </a:ln>
        </p:spPr>
        <p:txBody>
          <a:bodyPr/>
          <a:lstStyle/>
          <a:p>
            <a:endParaRPr/>
          </a:p>
        </p:txBody>
      </p:sp>
      <p:sp>
        <p:nvSpPr>
          <p:cNvPr id="28" name="Text 26">
            <a:extLst>
              <a:ext uri="{FF2B5EF4-FFF2-40B4-BE49-F238E27FC236}">
                <a16:creationId xmlns:a16="http://schemas.microsoft.com/office/drawing/2014/main" id="{F9C4B3C9-4BAD-4346-8A5A-F6A83792EB33}"/>
              </a:ext>
            </a:extLst>
          </p:cNvPr>
          <p:cNvSpPr>
            <a:spLocks noGrp="1"/>
          </p:cNvSpPr>
          <p:nvPr/>
        </p:nvSpPr>
        <p:spPr>
          <a:xfrm>
            <a:off x="7891272" y="4352544"/>
            <a:ext cx="2048256" cy="274320"/>
          </a:xfrm>
          <a:prstGeom prst="rect">
            <a:avLst/>
          </a:prstGeom>
          <a:noFill/>
        </p:spPr>
        <p:txBody>
          <a:bodyPr wrap="square" lIns="0" tIns="0" rIns="0" bIns="0" anchor="ctr"/>
          <a:lstStyle/>
          <a:p>
            <a:pPr marL="0" indent="0">
              <a:buNone/>
            </a:pPr>
            <a:endParaRPr sz="1600"/>
          </a:p>
        </p:txBody>
      </p:sp>
      <p:sp>
        <p:nvSpPr>
          <p:cNvPr id="29" name="Text 27">
            <a:extLst>
              <a:ext uri="{FF2B5EF4-FFF2-40B4-BE49-F238E27FC236}">
                <a16:creationId xmlns:a16="http://schemas.microsoft.com/office/drawing/2014/main" id="{D2F4A5CA-0DC9-45A7-9F5F-9F93994420F7}"/>
              </a:ext>
            </a:extLst>
          </p:cNvPr>
          <p:cNvSpPr>
            <a:spLocks noGrp="1"/>
          </p:cNvSpPr>
          <p:nvPr/>
        </p:nvSpPr>
        <p:spPr>
          <a:xfrm>
            <a:off x="7891272" y="4700016"/>
            <a:ext cx="2048256" cy="356616"/>
          </a:xfrm>
          <a:prstGeom prst="rect">
            <a:avLst/>
          </a:prstGeom>
          <a:noFill/>
        </p:spPr>
        <p:txBody>
          <a:bodyPr wrap="square" lIns="254" tIns="254" rIns="254" bIns="254" anchor="ctr"/>
          <a:lstStyle/>
          <a:p>
            <a:pPr marL="0" indent="0">
              <a:buNone/>
            </a:pPr>
            <a:endParaRPr sz="1250"/>
          </a:p>
        </p:txBody>
      </p:sp>
      <p:sp>
        <p:nvSpPr>
          <p:cNvPr id="30" name="Shape 28">
            <a:extLst>
              <a:ext uri="{FF2B5EF4-FFF2-40B4-BE49-F238E27FC236}">
                <a16:creationId xmlns:a16="http://schemas.microsoft.com/office/drawing/2014/main" id="{4770227C-74C4-4525-A402-F75CD215DACA}"/>
              </a:ext>
            </a:extLst>
          </p:cNvPr>
          <p:cNvSpPr>
            <a:spLocks noGrp="1"/>
          </p:cNvSpPr>
          <p:nvPr/>
        </p:nvSpPr>
        <p:spPr>
          <a:xfrm>
            <a:off x="5852160" y="2788920"/>
            <a:ext cx="0" cy="914400"/>
          </a:xfrm>
          <a:prstGeom prst="line">
            <a:avLst/>
          </a:prstGeom>
          <a:noFill/>
          <a:ln w="0">
            <a:noFill/>
            <a:headEnd type="none"/>
            <a:tailEnd type="triangle"/>
          </a:ln>
        </p:spPr>
        <p:txBody>
          <a:bodyPr/>
          <a:lstStyle/>
          <a:p>
            <a:endParaRPr/>
          </a:p>
        </p:txBody>
      </p:sp>
      <p:sp>
        <p:nvSpPr>
          <p:cNvPr id="31" name="Text 29">
            <a:extLst>
              <a:ext uri="{FF2B5EF4-FFF2-40B4-BE49-F238E27FC236}">
                <a16:creationId xmlns:a16="http://schemas.microsoft.com/office/drawing/2014/main" id="{A409AAFF-6BFB-45C0-A68D-DEAFACB24BCE}"/>
              </a:ext>
            </a:extLst>
          </p:cNvPr>
          <p:cNvSpPr>
            <a:spLocks noGrp="1"/>
          </p:cNvSpPr>
          <p:nvPr/>
        </p:nvSpPr>
        <p:spPr>
          <a:xfrm>
            <a:off x="5961888" y="3127248"/>
            <a:ext cx="1645920" cy="228600"/>
          </a:xfrm>
          <a:prstGeom prst="rect">
            <a:avLst/>
          </a:prstGeom>
          <a:noFill/>
        </p:spPr>
        <p:txBody>
          <a:bodyPr wrap="square" lIns="0" tIns="0" rIns="0" bIns="0" anchor="ctr"/>
          <a:lstStyle/>
          <a:p>
            <a:pPr marL="0" indent="0">
              <a:buNone/>
            </a:pPr>
            <a:endParaRPr sz="1050"/>
          </a:p>
        </p:txBody>
      </p:sp>
      <p:sp>
        <p:nvSpPr>
          <p:cNvPr id="40" name="Worker Note">
            <a:extLst>
              <a:ext uri="{FF2B5EF4-FFF2-40B4-BE49-F238E27FC236}">
                <a16:creationId xmlns:a16="http://schemas.microsoft.com/office/drawing/2014/main" id="{2FF118F0-482A-4E68-9C10-6F4C635D702F}"/>
              </a:ext>
            </a:extLst>
          </p:cNvPr>
          <p:cNvSpPr>
            <a:spLocks noGrp="1"/>
          </p:cNvSpPr>
          <p:nvPr/>
        </p:nvSpPr>
        <p:spPr>
          <a:xfrm>
            <a:off x="3048000" y="3797300"/>
            <a:ext cx="7010400" cy="279400"/>
          </a:xfrm>
          <a:prstGeom prst="rect">
            <a:avLst/>
          </a:prstGeom>
          <a:noFill/>
        </p:spPr>
        <p:txBody>
          <a:bodyPr wrap="square" lIns="0" tIns="0" rIns="0" bIns="0" anchor="ctr">
            <a:noAutofit/>
          </a:bodyPr>
          <a:lstStyle/>
          <a:p>
            <a:pPr marL="0" indent="0" algn="r">
              <a:buNone/>
            </a:pPr>
            <a:endParaRPr/>
          </a:p>
        </p:txBody>
      </p:sp>
      <p:sp>
        <p:nvSpPr>
          <p:cNvPr id="32" name="Slide Number Placeholder 0">
            <a:extLst>
              <a:ext uri="{FF2B5EF4-FFF2-40B4-BE49-F238E27FC236}">
                <a16:creationId xmlns:a16="http://schemas.microsoft.com/office/drawing/2014/main" id="{1DC16961-42E1-4310-9552-35BCEB78F006}"/>
              </a:ext>
            </a:extLst>
          </p:cNvPr>
          <p:cNvSpPr>
            <a:spLocks noGrp="1"/>
          </p:cNvSpPr>
          <p:nvPr>
            <p:ph type="sldNum" idx="4294967295"/>
          </p:nvPr>
        </p:nvSpPr>
        <p:spPr>
          <a:xfrm>
            <a:off x="11384280" y="6473952"/>
            <a:ext cx="320040" cy="201168"/>
          </a:xfrm>
          <a:prstGeom prst="rect">
            <a:avLst/>
          </a:prstGeom>
        </p:spPr>
        <p:txBody>
          <a:bodyPr lIns="0" tIns="0" rIns="0" bIns="0"/>
          <a:lstStyle>
            <a:lvl1pPr>
              <a:buNone/>
              <a:defRPr sz="900">
                <a:solidFill>
                  <a:srgbClr val="6B7280"/>
                </a:solidFill>
                <a:latin typeface="Aptos"/>
                <a:ea typeface="Aptos"/>
                <a:cs typeface="Aptos"/>
              </a:defRPr>
            </a:lvl1pPr>
          </a:lstStyle>
          <a:p>
            <a:pPr algn="r">
              <a:buNone/>
            </a:pPr>
            <a:fld id="{F7021451-1387-4CA6-816F-3879F97B5CBC}" type="slidenum">
              <a:rPr b="0"/>
              <a:t>7</a:t>
            </a:fld>
            <a:endParaRPr/>
          </a:p>
        </p:txBody>
      </p:sp>
      <p:sp>
        <p:nvSpPr>
          <p:cNvPr id="41" name="Batch entry">
            <a:extLst>
              <a:ext uri="{FF2B5EF4-FFF2-40B4-BE49-F238E27FC236}">
                <a16:creationId xmlns:a16="http://schemas.microsoft.com/office/drawing/2014/main" id="{E7B2043A-5315-498F-A3FC-9C68D4CE57A7}"/>
              </a:ext>
            </a:extLst>
          </p:cNvPr>
          <p:cNvSpPr>
            <a:spLocks noGrp="1"/>
          </p:cNvSpPr>
          <p:nvPr/>
        </p:nvSpPr>
        <p:spPr>
          <a:xfrm>
            <a:off x="666750" y="1428750"/>
            <a:ext cx="2952750" cy="1143000"/>
          </a:xfrm>
          <a:prstGeom prst="roundRect">
            <a:avLst>
              <a:gd name="adj" fmla="val 8333"/>
            </a:avLst>
          </a:prstGeom>
          <a:solidFill>
            <a:srgbClr val="EAF1FB"/>
          </a:solidFill>
          <a:ln w="15240">
            <a:solidFill>
              <a:srgbClr val="B5CAE7"/>
            </a:solidFill>
          </a:ln>
        </p:spPr>
      </p:sp>
      <p:sp>
        <p:nvSpPr>
          <p:cNvPr id="42" name="Test entry">
            <a:extLst>
              <a:ext uri="{FF2B5EF4-FFF2-40B4-BE49-F238E27FC236}">
                <a16:creationId xmlns:a16="http://schemas.microsoft.com/office/drawing/2014/main" id="{FBCB6F3E-54E1-4530-9BE7-F27419A6753D}"/>
              </a:ext>
            </a:extLst>
          </p:cNvPr>
          <p:cNvSpPr>
            <a:spLocks noGrp="1"/>
          </p:cNvSpPr>
          <p:nvPr/>
        </p:nvSpPr>
        <p:spPr>
          <a:xfrm>
            <a:off x="4191000" y="1428750"/>
            <a:ext cx="2952750" cy="1143000"/>
          </a:xfrm>
          <a:prstGeom prst="roundRect">
            <a:avLst>
              <a:gd name="adj" fmla="val 8333"/>
            </a:avLst>
          </a:prstGeom>
          <a:solidFill>
            <a:srgbClr val="FFF5E3"/>
          </a:solidFill>
          <a:ln w="15240">
            <a:solidFill>
              <a:srgbClr val="E5C78E"/>
            </a:solidFill>
          </a:ln>
        </p:spPr>
      </p:sp>
      <p:sp>
        <p:nvSpPr>
          <p:cNvPr id="43" name="Inference gateway">
            <a:extLst>
              <a:ext uri="{FF2B5EF4-FFF2-40B4-BE49-F238E27FC236}">
                <a16:creationId xmlns:a16="http://schemas.microsoft.com/office/drawing/2014/main" id="{2AA0A9E1-6CC4-4E9D-84F3-442F32DC1850}"/>
              </a:ext>
            </a:extLst>
          </p:cNvPr>
          <p:cNvSpPr>
            <a:spLocks noGrp="1"/>
          </p:cNvSpPr>
          <p:nvPr/>
        </p:nvSpPr>
        <p:spPr>
          <a:xfrm>
            <a:off x="7715250" y="1428750"/>
            <a:ext cx="3619500" cy="1143000"/>
          </a:xfrm>
          <a:prstGeom prst="roundRect">
            <a:avLst>
              <a:gd name="adj" fmla="val 8333"/>
            </a:avLst>
          </a:prstGeom>
          <a:solidFill>
            <a:srgbClr val="E8F4F2"/>
          </a:solidFill>
          <a:ln w="15240">
            <a:solidFill>
              <a:srgbClr val="B5D8D4"/>
            </a:solidFill>
          </a:ln>
        </p:spPr>
      </p:sp>
      <p:sp>
        <p:nvSpPr>
          <p:cNvPr id="44" name="Batch title">
            <a:extLst>
              <a:ext uri="{FF2B5EF4-FFF2-40B4-BE49-F238E27FC236}">
                <a16:creationId xmlns:a16="http://schemas.microsoft.com/office/drawing/2014/main" id="{AD0E271A-3CBA-4AE9-B1ED-06380A58A313}"/>
              </a:ext>
            </a:extLst>
          </p:cNvPr>
          <p:cNvSpPr>
            <a:spLocks noGrp="1"/>
          </p:cNvSpPr>
          <p:nvPr/>
        </p:nvSpPr>
        <p:spPr>
          <a:xfrm>
            <a:off x="857250" y="1552575"/>
            <a:ext cx="2571750" cy="285750"/>
          </a:xfrm>
          <a:prstGeom prst="rect">
            <a:avLst/>
          </a:prstGeom>
          <a:noFill/>
          <a:ln w="0">
            <a:noFill/>
          </a:ln>
        </p:spPr>
        <p:txBody>
          <a:bodyPr anchor="ctr">
            <a:noAutofit/>
          </a:bodyPr>
          <a:lstStyle/>
          <a:p>
            <a:pPr>
              <a:defRPr sz="1800" b="1">
                <a:solidFill>
                  <a:srgbClr val="244A7C"/>
                </a:solidFill>
                <a:latin typeface="Aptos Display"/>
                <a:ea typeface="Aptos Display"/>
                <a:cs typeface="Aptos Display"/>
              </a:defRPr>
            </a:pPr>
            <a:r>
              <a:rPr sz="1800" b="1">
                <a:solidFill>
                  <a:srgbClr val="244A7C"/>
                </a:solidFill>
                <a:latin typeface="Aptos Display"/>
                <a:ea typeface="Aptos Display"/>
                <a:cs typeface="Aptos Display"/>
              </a:rPr>
              <a:t>Batch Jobs / CLI</a:t>
            </a:r>
          </a:p>
        </p:txBody>
      </p:sp>
      <p:sp>
        <p:nvSpPr>
          <p:cNvPr id="45" name="Batch body">
            <a:extLst>
              <a:ext uri="{FF2B5EF4-FFF2-40B4-BE49-F238E27FC236}">
                <a16:creationId xmlns:a16="http://schemas.microsoft.com/office/drawing/2014/main" id="{DBDC5D82-3A3D-45BB-83AC-0CC33286C76D}"/>
              </a:ext>
            </a:extLst>
          </p:cNvPr>
          <p:cNvSpPr>
            <a:spLocks noGrp="1"/>
          </p:cNvSpPr>
          <p:nvPr/>
        </p:nvSpPr>
        <p:spPr>
          <a:xfrm>
            <a:off x="857250" y="1952625"/>
            <a:ext cx="2571750" cy="495300"/>
          </a:xfrm>
          <a:prstGeom prst="rect">
            <a:avLst/>
          </a:prstGeom>
          <a:noFill/>
          <a:ln w="0">
            <a:noFill/>
          </a:ln>
        </p:spPr>
        <p:txBody>
          <a:bodyPr anchor="ctr">
            <a:noAutofit/>
          </a:bodyPr>
          <a:lstStyle/>
          <a:p>
            <a:pPr>
              <a:defRPr sz="1400" b="0">
                <a:solidFill>
                  <a:srgbClr val="1F2937"/>
                </a:solidFill>
                <a:latin typeface="Aptos"/>
                <a:ea typeface="Aptos"/>
                <a:cs typeface="Aptos"/>
              </a:defRPr>
            </a:pPr>
            <a:r>
              <a:rPr sz="1400" b="0">
                <a:solidFill>
                  <a:srgbClr val="1F2937"/>
                </a:solidFill>
                <a:latin typeface="Aptos"/>
                <a:ea typeface="Aptos"/>
                <a:cs typeface="Aptos"/>
              </a:rPr>
              <a:t>Training and experiments</a:t>
            </a:r>
          </a:p>
          <a:p>
            <a:pPr>
              <a:defRPr sz="1400" b="0">
                <a:solidFill>
                  <a:srgbClr val="1F2937"/>
                </a:solidFill>
                <a:latin typeface="Aptos"/>
                <a:ea typeface="Aptos"/>
                <a:cs typeface="Aptos"/>
              </a:defRPr>
            </a:pPr>
            <a:r>
              <a:rPr sz="1400" b="0">
                <a:solidFill>
                  <a:srgbClr val="1F2937"/>
                </a:solidFill>
                <a:latin typeface="Aptos"/>
                <a:ea typeface="Aptos"/>
                <a:cs typeface="Aptos"/>
              </a:rPr>
              <a:t>Submit to batch queue</a:t>
            </a:r>
          </a:p>
        </p:txBody>
      </p:sp>
      <p:sp>
        <p:nvSpPr>
          <p:cNvPr id="46" name="Test title">
            <a:extLst>
              <a:ext uri="{FF2B5EF4-FFF2-40B4-BE49-F238E27FC236}">
                <a16:creationId xmlns:a16="http://schemas.microsoft.com/office/drawing/2014/main" id="{FD0F40A1-A6C2-4226-BADE-8D14B533AAC4}"/>
              </a:ext>
            </a:extLst>
          </p:cNvPr>
          <p:cNvSpPr>
            <a:spLocks noGrp="1"/>
          </p:cNvSpPr>
          <p:nvPr/>
        </p:nvSpPr>
        <p:spPr>
          <a:xfrm>
            <a:off x="4381500" y="1552575"/>
            <a:ext cx="2571750" cy="285750"/>
          </a:xfrm>
          <a:prstGeom prst="rect">
            <a:avLst/>
          </a:prstGeom>
          <a:noFill/>
          <a:ln w="0">
            <a:noFill/>
          </a:ln>
        </p:spPr>
        <p:txBody>
          <a:bodyPr anchor="ctr">
            <a:noAutofit/>
          </a:bodyPr>
          <a:lstStyle/>
          <a:p>
            <a:pPr>
              <a:defRPr sz="1800" b="1">
                <a:solidFill>
                  <a:srgbClr val="B9770E"/>
                </a:solidFill>
                <a:latin typeface="Aptos Display"/>
                <a:ea typeface="Aptos Display"/>
                <a:cs typeface="Aptos Display"/>
              </a:defRPr>
            </a:pPr>
            <a:r>
              <a:rPr sz="1800" b="1">
                <a:solidFill>
                  <a:srgbClr val="B9770E"/>
                </a:solidFill>
                <a:latin typeface="Aptos Display"/>
                <a:ea typeface="Aptos Display"/>
                <a:cs typeface="Aptos Display"/>
              </a:rPr>
              <a:t>Quick Tests / API</a:t>
            </a:r>
          </a:p>
        </p:txBody>
      </p:sp>
      <p:sp>
        <p:nvSpPr>
          <p:cNvPr id="47" name="Test body">
            <a:extLst>
              <a:ext uri="{FF2B5EF4-FFF2-40B4-BE49-F238E27FC236}">
                <a16:creationId xmlns:a16="http://schemas.microsoft.com/office/drawing/2014/main" id="{4E9B42BC-9178-4E42-A644-34BE0540DD69}"/>
              </a:ext>
            </a:extLst>
          </p:cNvPr>
          <p:cNvSpPr>
            <a:spLocks noGrp="1"/>
          </p:cNvSpPr>
          <p:nvPr/>
        </p:nvSpPr>
        <p:spPr>
          <a:xfrm>
            <a:off x="4381500" y="1952625"/>
            <a:ext cx="2628900" cy="495300"/>
          </a:xfrm>
          <a:prstGeom prst="rect">
            <a:avLst/>
          </a:prstGeom>
          <a:noFill/>
          <a:ln w="0">
            <a:noFill/>
          </a:ln>
        </p:spPr>
        <p:txBody>
          <a:bodyPr anchor="ctr">
            <a:noAutofit/>
          </a:bodyPr>
          <a:lstStyle/>
          <a:p>
            <a:pPr>
              <a:defRPr sz="1400" b="0">
                <a:solidFill>
                  <a:srgbClr val="1F2937"/>
                </a:solidFill>
                <a:latin typeface="Aptos"/>
                <a:ea typeface="Aptos"/>
                <a:cs typeface="Aptos"/>
              </a:defRPr>
            </a:pPr>
            <a:r>
              <a:rPr sz="1400" b="0">
                <a:solidFill>
                  <a:srgbClr val="1F2937"/>
                </a:solidFill>
                <a:latin typeface="Aptos"/>
                <a:ea typeface="Aptos"/>
                <a:cs typeface="Aptos"/>
              </a:rPr>
              <a:t>Short dev-session leases</a:t>
            </a:r>
          </a:p>
          <a:p>
            <a:pPr>
              <a:defRPr sz="1400" b="0">
                <a:solidFill>
                  <a:srgbClr val="1F2937"/>
                </a:solidFill>
                <a:latin typeface="Aptos"/>
                <a:ea typeface="Aptos"/>
                <a:cs typeface="Aptos"/>
              </a:defRPr>
            </a:pPr>
            <a:r>
              <a:rPr sz="1400" b="0">
                <a:solidFill>
                  <a:srgbClr val="1F2937"/>
                </a:solidFill>
                <a:latin typeface="Aptos"/>
                <a:ea typeface="Aptos"/>
                <a:cs typeface="Aptos"/>
              </a:rPr>
              <a:t>Warm worker, streamed output</a:t>
            </a:r>
          </a:p>
        </p:txBody>
      </p:sp>
      <p:sp>
        <p:nvSpPr>
          <p:cNvPr id="48" name="Gateway title">
            <a:extLst>
              <a:ext uri="{FF2B5EF4-FFF2-40B4-BE49-F238E27FC236}">
                <a16:creationId xmlns:a16="http://schemas.microsoft.com/office/drawing/2014/main" id="{2007B08B-C115-450B-8AFE-C7E1F7BDE23C}"/>
              </a:ext>
            </a:extLst>
          </p:cNvPr>
          <p:cNvSpPr>
            <a:spLocks noGrp="1"/>
          </p:cNvSpPr>
          <p:nvPr/>
        </p:nvSpPr>
        <p:spPr>
          <a:xfrm>
            <a:off x="7905750" y="1552575"/>
            <a:ext cx="3238500" cy="285750"/>
          </a:xfrm>
          <a:prstGeom prst="rect">
            <a:avLst/>
          </a:prstGeom>
          <a:noFill/>
          <a:ln w="0">
            <a:noFill/>
          </a:ln>
        </p:spPr>
        <p:txBody>
          <a:bodyPr anchor="ctr">
            <a:noAutofit/>
          </a:bodyPr>
          <a:lstStyle/>
          <a:p>
            <a:pPr>
              <a:defRPr sz="1800" b="1">
                <a:solidFill>
                  <a:srgbClr val="2F7C78"/>
                </a:solidFill>
                <a:latin typeface="Aptos Display"/>
                <a:ea typeface="Aptos Display"/>
                <a:cs typeface="Aptos Display"/>
              </a:defRPr>
            </a:pPr>
            <a:r>
              <a:rPr sz="1800" b="1">
                <a:solidFill>
                  <a:srgbClr val="2F7C78"/>
                </a:solidFill>
                <a:latin typeface="Aptos Display"/>
                <a:ea typeface="Aptos Display"/>
                <a:cs typeface="Aptos Display"/>
              </a:rPr>
              <a:t>Agent / Inference Gateway</a:t>
            </a:r>
          </a:p>
        </p:txBody>
      </p:sp>
      <p:sp>
        <p:nvSpPr>
          <p:cNvPr id="49" name="Gateway body">
            <a:extLst>
              <a:ext uri="{FF2B5EF4-FFF2-40B4-BE49-F238E27FC236}">
                <a16:creationId xmlns:a16="http://schemas.microsoft.com/office/drawing/2014/main" id="{AFF6FA8F-69B9-4EF2-9289-22B9A0C9EA32}"/>
              </a:ext>
            </a:extLst>
          </p:cNvPr>
          <p:cNvSpPr>
            <a:spLocks noGrp="1"/>
          </p:cNvSpPr>
          <p:nvPr/>
        </p:nvSpPr>
        <p:spPr>
          <a:xfrm>
            <a:off x="7905750" y="1952625"/>
            <a:ext cx="3238500" cy="495300"/>
          </a:xfrm>
          <a:prstGeom prst="rect">
            <a:avLst/>
          </a:prstGeom>
          <a:noFill/>
          <a:ln w="0">
            <a:noFill/>
          </a:ln>
        </p:spPr>
        <p:txBody>
          <a:bodyPr anchor="ctr">
            <a:noAutofit/>
          </a:bodyPr>
          <a:lstStyle/>
          <a:p>
            <a:pPr>
              <a:defRPr sz="1400" b="0">
                <a:solidFill>
                  <a:srgbClr val="1F2937"/>
                </a:solidFill>
                <a:latin typeface="Aptos"/>
                <a:ea typeface="Aptos"/>
                <a:cs typeface="Aptos"/>
              </a:defRPr>
            </a:pPr>
            <a:r>
              <a:rPr sz="1400" b="0">
                <a:solidFill>
                  <a:srgbClr val="1F2937"/>
                </a:solidFill>
                <a:latin typeface="Aptos"/>
                <a:ea typeface="Aptos"/>
                <a:cs typeface="Aptos"/>
              </a:rPr>
              <a:t>OpenAI-compatible API, model routing</a:t>
            </a:r>
          </a:p>
          <a:p>
            <a:pPr>
              <a:defRPr sz="1400" b="0">
                <a:solidFill>
                  <a:srgbClr val="1F2937"/>
                </a:solidFill>
                <a:latin typeface="Aptos"/>
                <a:ea typeface="Aptos"/>
                <a:cs typeface="Aptos"/>
              </a:defRPr>
            </a:pPr>
            <a:r>
              <a:rPr sz="1400" b="0">
                <a:solidFill>
                  <a:srgbClr val="1F2937"/>
                </a:solidFill>
                <a:latin typeface="Aptos"/>
                <a:ea typeface="Aptos"/>
                <a:cs typeface="Aptos"/>
              </a:rPr>
              <a:t>Ready model: send requests directly</a:t>
            </a:r>
          </a:p>
        </p:txBody>
      </p:sp>
      <p:sp>
        <p:nvSpPr>
          <p:cNvPr id="50" name="Shared controller">
            <a:extLst>
              <a:ext uri="{FF2B5EF4-FFF2-40B4-BE49-F238E27FC236}">
                <a16:creationId xmlns:a16="http://schemas.microsoft.com/office/drawing/2014/main" id="{A3C27D84-16D5-4E22-8CE9-238104C363DC}"/>
              </a:ext>
            </a:extLst>
          </p:cNvPr>
          <p:cNvSpPr>
            <a:spLocks noGrp="1"/>
          </p:cNvSpPr>
          <p:nvPr/>
        </p:nvSpPr>
        <p:spPr>
          <a:xfrm>
            <a:off x="666750" y="3238500"/>
            <a:ext cx="10668000" cy="1104900"/>
          </a:xfrm>
          <a:prstGeom prst="roundRect">
            <a:avLst>
              <a:gd name="adj" fmla="val 8621"/>
            </a:avLst>
          </a:prstGeom>
          <a:solidFill>
            <a:srgbClr val="DCE8F8"/>
          </a:solidFill>
          <a:ln w="15240">
            <a:solidFill>
              <a:srgbClr val="8EADD7"/>
            </a:solidFill>
          </a:ln>
        </p:spPr>
      </p:sp>
      <p:sp>
        <p:nvSpPr>
          <p:cNvPr id="51" name="Controller title">
            <a:extLst>
              <a:ext uri="{FF2B5EF4-FFF2-40B4-BE49-F238E27FC236}">
                <a16:creationId xmlns:a16="http://schemas.microsoft.com/office/drawing/2014/main" id="{2F3125A7-CDDE-4206-8D7F-92D905BA3142}"/>
              </a:ext>
            </a:extLst>
          </p:cNvPr>
          <p:cNvSpPr>
            <a:spLocks noGrp="1"/>
          </p:cNvSpPr>
          <p:nvPr/>
        </p:nvSpPr>
        <p:spPr>
          <a:xfrm>
            <a:off x="876300" y="3343275"/>
            <a:ext cx="6667500" cy="314325"/>
          </a:xfrm>
          <a:prstGeom prst="rect">
            <a:avLst/>
          </a:prstGeom>
          <a:noFill/>
          <a:ln w="0">
            <a:noFill/>
          </a:ln>
        </p:spPr>
        <p:txBody>
          <a:bodyPr anchor="ctr">
            <a:noAutofit/>
          </a:bodyPr>
          <a:lstStyle/>
          <a:p>
            <a:pPr>
              <a:defRPr sz="1900" b="1">
                <a:solidFill>
                  <a:srgbClr val="244A7C"/>
                </a:solidFill>
                <a:latin typeface="Aptos Display"/>
                <a:ea typeface="Aptos Display"/>
                <a:cs typeface="Aptos Display"/>
              </a:defRPr>
            </a:pPr>
            <a:r>
              <a:rPr sz="1900" b="1">
                <a:solidFill>
                  <a:srgbClr val="244A7C"/>
                </a:solidFill>
                <a:latin typeface="Aptos Display"/>
                <a:ea typeface="Aptos Display"/>
                <a:cs typeface="Aptos Display"/>
              </a:rPr>
              <a:t>Shared Scheduler &amp; Lifecycle Manager</a:t>
            </a:r>
          </a:p>
        </p:txBody>
      </p:sp>
      <p:sp>
        <p:nvSpPr>
          <p:cNvPr id="52" name="Controller placement">
            <a:extLst>
              <a:ext uri="{FF2B5EF4-FFF2-40B4-BE49-F238E27FC236}">
                <a16:creationId xmlns:a16="http://schemas.microsoft.com/office/drawing/2014/main" id="{9BADF365-DC15-431E-95B1-E9F5FD0FA87F}"/>
              </a:ext>
            </a:extLst>
          </p:cNvPr>
          <p:cNvSpPr>
            <a:spLocks noGrp="1"/>
          </p:cNvSpPr>
          <p:nvPr/>
        </p:nvSpPr>
        <p:spPr>
          <a:xfrm>
            <a:off x="876300" y="3743325"/>
            <a:ext cx="4000500" cy="485775"/>
          </a:xfrm>
          <a:prstGeom prst="rect">
            <a:avLst/>
          </a:prstGeom>
          <a:noFill/>
          <a:ln w="0">
            <a:noFill/>
          </a:ln>
        </p:spPr>
        <p:txBody>
          <a:bodyPr anchor="ctr">
            <a:noAutofit/>
          </a:bodyPr>
          <a:lstStyle/>
          <a:p>
            <a:pPr>
              <a:defRPr sz="1400" b="0">
                <a:solidFill>
                  <a:srgbClr val="1F2937"/>
                </a:solidFill>
                <a:latin typeface="Aptos"/>
                <a:ea typeface="Aptos"/>
                <a:cs typeface="Aptos"/>
              </a:defRPr>
            </a:pPr>
            <a:r>
              <a:rPr sz="1400" b="0">
                <a:solidFill>
                  <a:srgbClr val="1F2937"/>
                </a:solidFill>
                <a:latin typeface="Aptos"/>
                <a:ea typeface="Aptos"/>
                <a:cs typeface="Aptos"/>
              </a:rPr>
              <a:t>CPU / RAM / VRAM admission</a:t>
            </a:r>
          </a:p>
          <a:p>
            <a:pPr>
              <a:defRPr sz="1400" b="0">
                <a:solidFill>
                  <a:srgbClr val="1F2937"/>
                </a:solidFill>
                <a:latin typeface="Aptos"/>
                <a:ea typeface="Aptos"/>
                <a:cs typeface="Aptos"/>
              </a:defRPr>
            </a:pPr>
            <a:r>
              <a:rPr sz="1400" b="0">
                <a:solidFill>
                  <a:srgbClr val="1F2937"/>
                </a:solidFill>
                <a:latin typeface="Aptos"/>
                <a:ea typeface="Aptos"/>
                <a:cs typeface="Aptos"/>
              </a:rPr>
              <a:t>Batch priority, fairness and backfilling</a:t>
            </a:r>
          </a:p>
        </p:txBody>
      </p:sp>
      <p:sp>
        <p:nvSpPr>
          <p:cNvPr id="53" name="Controller lifecycle">
            <a:extLst>
              <a:ext uri="{FF2B5EF4-FFF2-40B4-BE49-F238E27FC236}">
                <a16:creationId xmlns:a16="http://schemas.microsoft.com/office/drawing/2014/main" id="{84331E8B-FF87-4892-8D66-4310DF2B06F9}"/>
              </a:ext>
            </a:extLst>
          </p:cNvPr>
          <p:cNvSpPr>
            <a:spLocks noGrp="1"/>
          </p:cNvSpPr>
          <p:nvPr/>
        </p:nvSpPr>
        <p:spPr>
          <a:xfrm>
            <a:off x="5048250" y="3743325"/>
            <a:ext cx="3571875" cy="485775"/>
          </a:xfrm>
          <a:prstGeom prst="rect">
            <a:avLst/>
          </a:prstGeom>
          <a:noFill/>
          <a:ln w="0">
            <a:noFill/>
          </a:ln>
        </p:spPr>
        <p:txBody>
          <a:bodyPr anchor="ctr">
            <a:noAutofit/>
          </a:bodyPr>
          <a:lstStyle/>
          <a:p>
            <a:pPr>
              <a:defRPr sz="1400" b="0">
                <a:solidFill>
                  <a:srgbClr val="1F2937"/>
                </a:solidFill>
                <a:latin typeface="Aptos"/>
                <a:ea typeface="Aptos"/>
                <a:cs typeface="Aptos"/>
              </a:defRPr>
            </a:pPr>
            <a:r>
              <a:rPr sz="1400" b="0" dirty="0">
                <a:solidFill>
                  <a:srgbClr val="1F2937"/>
                </a:solidFill>
                <a:latin typeface="Aptos"/>
                <a:ea typeface="Aptos"/>
                <a:cs typeface="Aptos"/>
              </a:rPr>
              <a:t>Test leases and timeout cleanup</a:t>
            </a:r>
          </a:p>
          <a:p>
            <a:pPr>
              <a:defRPr sz="1400" b="0">
                <a:solidFill>
                  <a:srgbClr val="1F2937"/>
                </a:solidFill>
                <a:latin typeface="Aptos"/>
                <a:ea typeface="Aptos"/>
                <a:cs typeface="Aptos"/>
              </a:defRPr>
            </a:pPr>
            <a:r>
              <a:rPr sz="1400" b="0" dirty="0">
                <a:solidFill>
                  <a:srgbClr val="1F2937"/>
                </a:solidFill>
                <a:latin typeface="Aptos"/>
                <a:ea typeface="Aptos"/>
                <a:cs typeface="Aptos"/>
              </a:rPr>
              <a:t>Model startup and idle reclamation</a:t>
            </a:r>
          </a:p>
        </p:txBody>
      </p:sp>
      <p:sp>
        <p:nvSpPr>
          <p:cNvPr id="54" name="Dashboard title">
            <a:extLst>
              <a:ext uri="{FF2B5EF4-FFF2-40B4-BE49-F238E27FC236}">
                <a16:creationId xmlns:a16="http://schemas.microsoft.com/office/drawing/2014/main" id="{DA775FB8-EF86-4D8F-8665-0E77C564A5AE}"/>
              </a:ext>
            </a:extLst>
          </p:cNvPr>
          <p:cNvSpPr>
            <a:spLocks noGrp="1"/>
          </p:cNvSpPr>
          <p:nvPr/>
        </p:nvSpPr>
        <p:spPr>
          <a:xfrm>
            <a:off x="9105900" y="3381375"/>
            <a:ext cx="2047875" cy="266700"/>
          </a:xfrm>
          <a:prstGeom prst="rect">
            <a:avLst/>
          </a:prstGeom>
          <a:noFill/>
          <a:ln w="0">
            <a:noFill/>
          </a:ln>
        </p:spPr>
        <p:txBody>
          <a:bodyPr anchor="ctr">
            <a:noAutofit/>
          </a:bodyPr>
          <a:lstStyle/>
          <a:p>
            <a:pPr>
              <a:defRPr sz="1600" b="1">
                <a:solidFill>
                  <a:srgbClr val="244A7C"/>
                </a:solidFill>
                <a:latin typeface="Aptos Display"/>
                <a:ea typeface="Aptos Display"/>
                <a:cs typeface="Aptos Display"/>
              </a:defRPr>
            </a:pPr>
            <a:r>
              <a:rPr sz="1600" b="1">
                <a:solidFill>
                  <a:srgbClr val="244A7C"/>
                </a:solidFill>
                <a:latin typeface="Aptos Display"/>
                <a:ea typeface="Aptos Display"/>
                <a:cs typeface="Aptos Display"/>
              </a:rPr>
              <a:t>Dashboard</a:t>
            </a:r>
          </a:p>
        </p:txBody>
      </p:sp>
      <p:sp>
        <p:nvSpPr>
          <p:cNvPr id="55" name="Dashboard body">
            <a:extLst>
              <a:ext uri="{FF2B5EF4-FFF2-40B4-BE49-F238E27FC236}">
                <a16:creationId xmlns:a16="http://schemas.microsoft.com/office/drawing/2014/main" id="{C9D57AA4-431C-401A-B0AE-FC5E6B916F68}"/>
              </a:ext>
            </a:extLst>
          </p:cNvPr>
          <p:cNvSpPr>
            <a:spLocks noGrp="1"/>
          </p:cNvSpPr>
          <p:nvPr/>
        </p:nvSpPr>
        <p:spPr>
          <a:xfrm>
            <a:off x="9105900" y="3743325"/>
            <a:ext cx="2047875" cy="485775"/>
          </a:xfrm>
          <a:prstGeom prst="rect">
            <a:avLst/>
          </a:prstGeom>
          <a:noFill/>
          <a:ln w="0">
            <a:noFill/>
          </a:ln>
        </p:spPr>
        <p:txBody>
          <a:bodyPr anchor="ctr">
            <a:noAutofit/>
          </a:bodyPr>
          <a:lstStyle/>
          <a:p>
            <a:pPr>
              <a:defRPr sz="1400" b="0">
                <a:solidFill>
                  <a:srgbClr val="1F2937"/>
                </a:solidFill>
                <a:latin typeface="Aptos"/>
                <a:ea typeface="Aptos"/>
                <a:cs typeface="Aptos"/>
              </a:defRPr>
            </a:pPr>
            <a:r>
              <a:rPr sz="1400" b="0">
                <a:solidFill>
                  <a:srgbClr val="1F2937"/>
                </a:solidFill>
                <a:latin typeface="Aptos"/>
                <a:ea typeface="Aptos"/>
                <a:cs typeface="Aptos"/>
              </a:rPr>
              <a:t>Queue, node and</a:t>
            </a:r>
          </a:p>
          <a:p>
            <a:pPr>
              <a:defRPr sz="1400" b="0">
                <a:solidFill>
                  <a:srgbClr val="1F2937"/>
                </a:solidFill>
                <a:latin typeface="Aptos"/>
                <a:ea typeface="Aptos"/>
                <a:cs typeface="Aptos"/>
              </a:defRPr>
            </a:pPr>
            <a:r>
              <a:rPr sz="1400" b="0">
                <a:solidFill>
                  <a:srgbClr val="1F2937"/>
                </a:solidFill>
                <a:latin typeface="Aptos"/>
                <a:ea typeface="Aptos"/>
                <a:cs typeface="Aptos"/>
              </a:rPr>
              <a:t>service status</a:t>
            </a:r>
          </a:p>
        </p:txBody>
      </p:sp>
      <p:sp>
        <p:nvSpPr>
          <p:cNvPr id="56" name="Shared worker pool">
            <a:extLst>
              <a:ext uri="{FF2B5EF4-FFF2-40B4-BE49-F238E27FC236}">
                <a16:creationId xmlns:a16="http://schemas.microsoft.com/office/drawing/2014/main" id="{0C6002B8-D5B4-4B6A-8139-552FEA6A8A80}"/>
              </a:ext>
            </a:extLst>
          </p:cNvPr>
          <p:cNvSpPr>
            <a:spLocks noGrp="1"/>
          </p:cNvSpPr>
          <p:nvPr/>
        </p:nvSpPr>
        <p:spPr>
          <a:xfrm>
            <a:off x="666750" y="4972050"/>
            <a:ext cx="10668000" cy="1247775"/>
          </a:xfrm>
          <a:prstGeom prst="roundRect">
            <a:avLst>
              <a:gd name="adj" fmla="val 7634"/>
            </a:avLst>
          </a:prstGeom>
          <a:solidFill>
            <a:srgbClr val="FAFBFC"/>
          </a:solidFill>
          <a:ln w="15240">
            <a:solidFill>
              <a:srgbClr val="AEB6C1"/>
            </a:solidFill>
          </a:ln>
        </p:spPr>
      </p:sp>
      <p:sp>
        <p:nvSpPr>
          <p:cNvPr id="57" name="Pool title">
            <a:extLst>
              <a:ext uri="{FF2B5EF4-FFF2-40B4-BE49-F238E27FC236}">
                <a16:creationId xmlns:a16="http://schemas.microsoft.com/office/drawing/2014/main" id="{E7EB56F2-5CBC-4859-A713-FC5D801843B7}"/>
              </a:ext>
            </a:extLst>
          </p:cNvPr>
          <p:cNvSpPr>
            <a:spLocks noGrp="1"/>
          </p:cNvSpPr>
          <p:nvPr/>
        </p:nvSpPr>
        <p:spPr>
          <a:xfrm>
            <a:off x="876300" y="5048250"/>
            <a:ext cx="6191250" cy="295275"/>
          </a:xfrm>
          <a:prstGeom prst="rect">
            <a:avLst/>
          </a:prstGeom>
          <a:noFill/>
          <a:ln w="0">
            <a:noFill/>
          </a:ln>
        </p:spPr>
        <p:txBody>
          <a:bodyPr anchor="ctr">
            <a:noAutofit/>
          </a:bodyPr>
          <a:lstStyle/>
          <a:p>
            <a:pPr>
              <a:defRPr sz="1800" b="1">
                <a:solidFill>
                  <a:srgbClr val="1F2937"/>
                </a:solidFill>
                <a:latin typeface="Aptos Display"/>
                <a:ea typeface="Aptos Display"/>
                <a:cs typeface="Aptos Display"/>
              </a:defRPr>
            </a:pPr>
            <a:r>
              <a:rPr sz="1800" b="1">
                <a:solidFill>
                  <a:srgbClr val="1F2937"/>
                </a:solidFill>
                <a:latin typeface="Aptos Display"/>
                <a:ea typeface="Aptos Display"/>
                <a:cs typeface="Aptos Display"/>
              </a:rPr>
              <a:t>Shared Heterogeneous Worker Pool</a:t>
            </a:r>
          </a:p>
        </p:txBody>
      </p:sp>
      <p:sp>
        <p:nvSpPr>
          <p:cNvPr id="58" name="Pool sub">
            <a:extLst>
              <a:ext uri="{FF2B5EF4-FFF2-40B4-BE49-F238E27FC236}">
                <a16:creationId xmlns:a16="http://schemas.microsoft.com/office/drawing/2014/main" id="{BA018DA4-C780-4D9D-A0F4-3C572973BA75}"/>
              </a:ext>
            </a:extLst>
          </p:cNvPr>
          <p:cNvSpPr>
            <a:spLocks noGrp="1"/>
          </p:cNvSpPr>
          <p:nvPr/>
        </p:nvSpPr>
        <p:spPr>
          <a:xfrm>
            <a:off x="876300" y="5381625"/>
            <a:ext cx="9810750" cy="266700"/>
          </a:xfrm>
          <a:prstGeom prst="rect">
            <a:avLst/>
          </a:prstGeom>
          <a:noFill/>
          <a:ln w="0">
            <a:noFill/>
          </a:ln>
        </p:spPr>
        <p:txBody>
          <a:bodyPr anchor="ctr">
            <a:noAutofit/>
          </a:bodyPr>
          <a:lstStyle/>
          <a:p>
            <a:pPr>
              <a:defRPr sz="1400" b="0">
                <a:solidFill>
                  <a:srgbClr val="1F2937"/>
                </a:solidFill>
                <a:latin typeface="Aptos"/>
                <a:ea typeface="Aptos"/>
                <a:cs typeface="Aptos"/>
              </a:defRPr>
            </a:pPr>
            <a:r>
              <a:rPr sz="1400" b="0">
                <a:solidFill>
                  <a:srgbClr val="1F2937"/>
                </a:solidFill>
                <a:latin typeface="Aptos"/>
                <a:ea typeface="Aptos"/>
                <a:cs typeface="Aptos"/>
              </a:rPr>
              <a:t>Batch jobs, leased test workers and model servers run on suitable nodes.</a:t>
            </a:r>
          </a:p>
        </p:txBody>
      </p:sp>
      <p:sp>
        <p:nvSpPr>
          <p:cNvPr id="59" name="Node capabilities">
            <a:extLst>
              <a:ext uri="{FF2B5EF4-FFF2-40B4-BE49-F238E27FC236}">
                <a16:creationId xmlns:a16="http://schemas.microsoft.com/office/drawing/2014/main" id="{0809FF43-671A-473A-B8D7-030B24C135F4}"/>
              </a:ext>
            </a:extLst>
          </p:cNvPr>
          <p:cNvSpPr>
            <a:spLocks noGrp="1"/>
          </p:cNvSpPr>
          <p:nvPr/>
        </p:nvSpPr>
        <p:spPr>
          <a:xfrm>
            <a:off x="876300" y="5753100"/>
            <a:ext cx="9953625" cy="276225"/>
          </a:xfrm>
          <a:prstGeom prst="rect">
            <a:avLst/>
          </a:prstGeom>
          <a:noFill/>
          <a:ln w="0">
            <a:noFill/>
          </a:ln>
        </p:spPr>
        <p:txBody>
          <a:bodyPr anchor="ctr">
            <a:noAutofit/>
          </a:bodyPr>
          <a:lstStyle/>
          <a:p>
            <a:pPr>
              <a:defRPr sz="1400" b="0">
                <a:solidFill>
                  <a:srgbClr val="2F7D32"/>
                </a:solidFill>
                <a:latin typeface="Aptos"/>
                <a:ea typeface="Aptos"/>
                <a:cs typeface="Aptos"/>
              </a:defRPr>
            </a:pPr>
            <a:r>
              <a:rPr sz="1400" b="0">
                <a:solidFill>
                  <a:srgbClr val="2F7D32"/>
                </a:solidFill>
                <a:latin typeface="Aptos"/>
                <a:ea typeface="Aptos"/>
                <a:cs typeface="Aptos"/>
              </a:rPr>
              <a:t>Node A: smaller GPU       Node B / C: larger-memory GPUs       Roles change with demand</a:t>
            </a:r>
          </a:p>
        </p:txBody>
      </p:sp>
      <p:sp>
        <p:nvSpPr>
          <p:cNvPr id="60" name="Control anchor 225">
            <a:extLst>
              <a:ext uri="{FF2B5EF4-FFF2-40B4-BE49-F238E27FC236}">
                <a16:creationId xmlns:a16="http://schemas.microsoft.com/office/drawing/2014/main" id="{2C6D869F-EB31-4E30-B753-B2C702F2F228}"/>
              </a:ext>
            </a:extLst>
          </p:cNvPr>
          <p:cNvSpPr>
            <a:spLocks noGrp="1"/>
          </p:cNvSpPr>
          <p:nvPr/>
        </p:nvSpPr>
        <p:spPr>
          <a:xfrm>
            <a:off x="2133600" y="3228975"/>
            <a:ext cx="19050" cy="19050"/>
          </a:xfrm>
          <a:prstGeom prst="roundRect">
            <a:avLst>
              <a:gd name="adj" fmla="val 50000"/>
            </a:avLst>
          </a:prstGeom>
          <a:noFill/>
          <a:ln w="15240">
            <a:noFill/>
          </a:ln>
        </p:spPr>
      </p:sp>
      <p:sp>
        <p:nvSpPr>
          <p:cNvPr id="62" name="Control label 225">
            <a:extLst>
              <a:ext uri="{FF2B5EF4-FFF2-40B4-BE49-F238E27FC236}">
                <a16:creationId xmlns:a16="http://schemas.microsoft.com/office/drawing/2014/main" id="{280E283D-4406-4D1A-8461-281B160371FF}"/>
              </a:ext>
            </a:extLst>
          </p:cNvPr>
          <p:cNvSpPr>
            <a:spLocks noGrp="1"/>
          </p:cNvSpPr>
          <p:nvPr/>
        </p:nvSpPr>
        <p:spPr>
          <a:xfrm>
            <a:off x="762000" y="2800350"/>
            <a:ext cx="1285875" cy="238125"/>
          </a:xfrm>
          <a:prstGeom prst="rect">
            <a:avLst/>
          </a:prstGeom>
          <a:noFill/>
          <a:ln w="0">
            <a:noFill/>
          </a:ln>
        </p:spPr>
        <p:txBody>
          <a:bodyPr anchor="ctr">
            <a:noAutofit/>
          </a:bodyPr>
          <a:lstStyle/>
          <a:p>
            <a:pPr>
              <a:defRPr sz="1200" b="0">
                <a:solidFill>
                  <a:srgbClr val="6B7280"/>
                </a:solidFill>
                <a:latin typeface="Aptos"/>
                <a:ea typeface="Aptos"/>
                <a:cs typeface="Aptos"/>
              </a:defRPr>
            </a:pPr>
            <a:r>
              <a:rPr sz="1200" b="0">
                <a:solidFill>
                  <a:srgbClr val="6B7280"/>
                </a:solidFill>
                <a:latin typeface="Aptos"/>
                <a:ea typeface="Aptos"/>
                <a:cs typeface="Aptos"/>
              </a:rPr>
              <a:t>Queued jobs</a:t>
            </a:r>
          </a:p>
        </p:txBody>
      </p:sp>
      <p:sp>
        <p:nvSpPr>
          <p:cNvPr id="63" name="Control anchor 595">
            <a:extLst>
              <a:ext uri="{FF2B5EF4-FFF2-40B4-BE49-F238E27FC236}">
                <a16:creationId xmlns:a16="http://schemas.microsoft.com/office/drawing/2014/main" id="{F4C58CA6-4894-417F-95E7-11C61C995D07}"/>
              </a:ext>
            </a:extLst>
          </p:cNvPr>
          <p:cNvSpPr>
            <a:spLocks noGrp="1"/>
          </p:cNvSpPr>
          <p:nvPr/>
        </p:nvSpPr>
        <p:spPr>
          <a:xfrm>
            <a:off x="5657850" y="3228975"/>
            <a:ext cx="19050" cy="19050"/>
          </a:xfrm>
          <a:prstGeom prst="roundRect">
            <a:avLst>
              <a:gd name="adj" fmla="val 50000"/>
            </a:avLst>
          </a:prstGeom>
          <a:noFill/>
          <a:ln w="15240">
            <a:noFill/>
          </a:ln>
        </p:spPr>
      </p:sp>
      <p:sp>
        <p:nvSpPr>
          <p:cNvPr id="65" name="Control label 595">
            <a:extLst>
              <a:ext uri="{FF2B5EF4-FFF2-40B4-BE49-F238E27FC236}">
                <a16:creationId xmlns:a16="http://schemas.microsoft.com/office/drawing/2014/main" id="{82067DAE-63F0-4A12-82FD-3F64E1C11139}"/>
              </a:ext>
            </a:extLst>
          </p:cNvPr>
          <p:cNvSpPr>
            <a:spLocks noGrp="1"/>
          </p:cNvSpPr>
          <p:nvPr/>
        </p:nvSpPr>
        <p:spPr>
          <a:xfrm>
            <a:off x="4286250" y="2800350"/>
            <a:ext cx="1333500" cy="238125"/>
          </a:xfrm>
          <a:prstGeom prst="rect">
            <a:avLst/>
          </a:prstGeom>
          <a:noFill/>
          <a:ln w="0">
            <a:noFill/>
          </a:ln>
        </p:spPr>
        <p:txBody>
          <a:bodyPr anchor="ctr">
            <a:noAutofit/>
          </a:bodyPr>
          <a:lstStyle/>
          <a:p>
            <a:pPr>
              <a:defRPr sz="1200" b="0">
                <a:solidFill>
                  <a:srgbClr val="6B7280"/>
                </a:solidFill>
                <a:latin typeface="Aptos"/>
                <a:ea typeface="Aptos"/>
                <a:cs typeface="Aptos"/>
              </a:defRPr>
            </a:pPr>
            <a:r>
              <a:rPr sz="1200" b="0">
                <a:solidFill>
                  <a:srgbClr val="6B7280"/>
                </a:solidFill>
                <a:latin typeface="Aptos"/>
                <a:ea typeface="Aptos"/>
                <a:cs typeface="Aptos"/>
              </a:rPr>
              <a:t>Lease request</a:t>
            </a:r>
          </a:p>
        </p:txBody>
      </p:sp>
      <p:sp>
        <p:nvSpPr>
          <p:cNvPr id="66" name="Control anchor 1000">
            <a:extLst>
              <a:ext uri="{FF2B5EF4-FFF2-40B4-BE49-F238E27FC236}">
                <a16:creationId xmlns:a16="http://schemas.microsoft.com/office/drawing/2014/main" id="{2E61DD89-F8CE-41C7-9A86-16055A221AC3}"/>
              </a:ext>
            </a:extLst>
          </p:cNvPr>
          <p:cNvSpPr>
            <a:spLocks noGrp="1"/>
          </p:cNvSpPr>
          <p:nvPr/>
        </p:nvSpPr>
        <p:spPr>
          <a:xfrm>
            <a:off x="9515475" y="3228975"/>
            <a:ext cx="19050" cy="19050"/>
          </a:xfrm>
          <a:prstGeom prst="roundRect">
            <a:avLst>
              <a:gd name="adj" fmla="val 50000"/>
            </a:avLst>
          </a:prstGeom>
          <a:noFill/>
          <a:ln w="15240">
            <a:noFill/>
          </a:ln>
        </p:spPr>
      </p:sp>
      <p:sp>
        <p:nvSpPr>
          <p:cNvPr id="68" name="Control label 1000">
            <a:extLst>
              <a:ext uri="{FF2B5EF4-FFF2-40B4-BE49-F238E27FC236}">
                <a16:creationId xmlns:a16="http://schemas.microsoft.com/office/drawing/2014/main" id="{BA9E39B5-BEB7-448A-8D5E-204CFA2B920C}"/>
              </a:ext>
            </a:extLst>
          </p:cNvPr>
          <p:cNvSpPr>
            <a:spLocks noGrp="1"/>
          </p:cNvSpPr>
          <p:nvPr/>
        </p:nvSpPr>
        <p:spPr>
          <a:xfrm>
            <a:off x="7753350" y="2800350"/>
            <a:ext cx="1695450" cy="238125"/>
          </a:xfrm>
          <a:prstGeom prst="rect">
            <a:avLst/>
          </a:prstGeom>
          <a:noFill/>
          <a:ln w="0">
            <a:noFill/>
          </a:ln>
        </p:spPr>
        <p:txBody>
          <a:bodyPr anchor="ctr">
            <a:noAutofit/>
          </a:bodyPr>
          <a:lstStyle/>
          <a:p>
            <a:pPr>
              <a:defRPr sz="1200" b="0">
                <a:solidFill>
                  <a:srgbClr val="6B7280"/>
                </a:solidFill>
                <a:latin typeface="Aptos"/>
                <a:ea typeface="Aptos"/>
                <a:cs typeface="Aptos"/>
              </a:defRPr>
            </a:pPr>
            <a:r>
              <a:rPr sz="1200" b="0">
                <a:solidFill>
                  <a:srgbClr val="6B7280"/>
                </a:solidFill>
                <a:latin typeface="Aptos"/>
                <a:ea typeface="Aptos"/>
                <a:cs typeface="Aptos"/>
              </a:rPr>
              <a:t>Model startup request</a:t>
            </a:r>
          </a:p>
        </p:txBody>
      </p:sp>
      <p:sp>
        <p:nvSpPr>
          <p:cNvPr id="70" name="Dispatch label">
            <a:extLst>
              <a:ext uri="{FF2B5EF4-FFF2-40B4-BE49-F238E27FC236}">
                <a16:creationId xmlns:a16="http://schemas.microsoft.com/office/drawing/2014/main" id="{42A224D8-0716-49CE-97EE-600E2CA732FD}"/>
              </a:ext>
            </a:extLst>
          </p:cNvPr>
          <p:cNvSpPr>
            <a:spLocks noGrp="1"/>
          </p:cNvSpPr>
          <p:nvPr/>
        </p:nvSpPr>
        <p:spPr>
          <a:xfrm>
            <a:off x="857250" y="4552950"/>
            <a:ext cx="7715250" cy="238125"/>
          </a:xfrm>
          <a:prstGeom prst="rect">
            <a:avLst/>
          </a:prstGeom>
          <a:noFill/>
          <a:ln w="0">
            <a:noFill/>
          </a:ln>
        </p:spPr>
        <p:txBody>
          <a:bodyPr anchor="ctr">
            <a:noAutofit/>
          </a:bodyPr>
          <a:lstStyle/>
          <a:p>
            <a:pPr>
              <a:defRPr sz="1200" b="0">
                <a:solidFill>
                  <a:srgbClr val="6B7280"/>
                </a:solidFill>
                <a:latin typeface="Aptos"/>
                <a:ea typeface="Aptos"/>
                <a:cs typeface="Aptos"/>
              </a:defRPr>
            </a:pPr>
            <a:r>
              <a:rPr sz="1200" b="0">
                <a:solidFill>
                  <a:srgbClr val="6B7280"/>
                </a:solidFill>
                <a:latin typeface="Aptos"/>
                <a:ea typeface="Aptos"/>
                <a:cs typeface="Aptos"/>
              </a:rPr>
              <a:t>Dispatch / stop workers; receive heartbeats and resource reports</a:t>
            </a:r>
          </a:p>
        </p:txBody>
      </p:sp>
      <p:sp>
        <p:nvSpPr>
          <p:cNvPr id="72" name="Direct route label">
            <a:extLst>
              <a:ext uri="{FF2B5EF4-FFF2-40B4-BE49-F238E27FC236}">
                <a16:creationId xmlns:a16="http://schemas.microsoft.com/office/drawing/2014/main" id="{C75B6754-C6C3-499B-8054-8575837CC3FB}"/>
              </a:ext>
            </a:extLst>
          </p:cNvPr>
          <p:cNvSpPr>
            <a:spLocks noGrp="1"/>
          </p:cNvSpPr>
          <p:nvPr/>
        </p:nvSpPr>
        <p:spPr>
          <a:xfrm>
            <a:off x="9277350" y="4552950"/>
            <a:ext cx="2066925" cy="238125"/>
          </a:xfrm>
          <a:prstGeom prst="rect">
            <a:avLst/>
          </a:prstGeom>
          <a:noFill/>
          <a:ln w="0">
            <a:noFill/>
          </a:ln>
        </p:spPr>
        <p:txBody>
          <a:bodyPr anchor="ctr">
            <a:noAutofit/>
          </a:bodyPr>
          <a:lstStyle/>
          <a:p>
            <a:pPr>
              <a:defRPr sz="1200" b="0">
                <a:solidFill>
                  <a:srgbClr val="2F7C78"/>
                </a:solidFill>
                <a:latin typeface="Aptos"/>
                <a:ea typeface="Aptos"/>
                <a:cs typeface="Aptos"/>
              </a:defRPr>
            </a:pPr>
            <a:r>
              <a:rPr sz="1200" b="0">
                <a:solidFill>
                  <a:srgbClr val="2F7C78"/>
                </a:solidFill>
                <a:latin typeface="Aptos"/>
                <a:ea typeface="Aptos"/>
                <a:cs typeface="Aptos"/>
              </a:rPr>
              <a:t>Ready-model traffic</a:t>
            </a:r>
          </a:p>
        </p:txBody>
      </p:sp>
    </p:spTree>
    <p:extLst>
      <p:ext uri="{BB962C8B-B14F-4D97-AF65-F5344CB8AC3E}">
        <p14:creationId xmlns:p14="http://schemas.microsoft.com/office/powerpoint/2010/main" val="2245511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84048"/>
            <a:ext cx="10972800" cy="438912"/>
          </a:xfrm>
          <a:prstGeom prst="rect">
            <a:avLst/>
          </a:prstGeom>
          <a:noFill/>
          <a:ln/>
        </p:spPr>
        <p:txBody>
          <a:bodyPr wrap="square" lIns="0" tIns="0" rIns="0" bIns="0" rtlCol="0" anchor="ctr"/>
          <a:lstStyle/>
          <a:p>
            <a:pPr marL="0" indent="0">
              <a:buNone/>
            </a:pPr>
            <a:r>
              <a:rPr lang="en-US" sz="2600" b="1" dirty="0">
                <a:solidFill>
                  <a:srgbClr val="1F2937"/>
                </a:solidFill>
                <a:latin typeface="Aptos Display" pitchFamily="34" charset="0"/>
                <a:ea typeface="Aptos Display" pitchFamily="34" charset="-122"/>
                <a:cs typeface="Aptos Display" pitchFamily="34" charset="-120"/>
              </a:rPr>
              <a:t>Scheduling Policies</a:t>
            </a:r>
            <a:endParaRPr lang="en-US" sz="2600" dirty="0"/>
          </a:p>
        </p:txBody>
      </p:sp>
      <p:sp>
        <p:nvSpPr>
          <p:cNvPr id="3" name="Text 1"/>
          <p:cNvSpPr/>
          <p:nvPr/>
        </p:nvSpPr>
        <p:spPr>
          <a:xfrm>
            <a:off x="621792" y="841248"/>
            <a:ext cx="10789920" cy="274320"/>
          </a:xfrm>
          <a:prstGeom prst="rect">
            <a:avLst/>
          </a:prstGeom>
          <a:noFill/>
          <a:ln/>
        </p:spPr>
        <p:txBody>
          <a:bodyPr wrap="square" lIns="0" tIns="0" rIns="0" bIns="0" rtlCol="0" anchor="ctr"/>
          <a:lstStyle/>
          <a:p>
            <a:pPr marL="0" indent="0">
              <a:buNone/>
            </a:pPr>
            <a:r>
              <a:rPr lang="en-US" sz="1200" dirty="0">
                <a:solidFill>
                  <a:srgbClr val="6B7280"/>
                </a:solidFill>
                <a:latin typeface="Aptos" pitchFamily="34" charset="0"/>
                <a:ea typeface="Aptos" pitchFamily="34" charset="-122"/>
                <a:cs typeface="Aptos" pitchFamily="34" charset="-120"/>
              </a:rPr>
              <a:t>The project is about scheduling decisions, not just remote execution.</a:t>
            </a:r>
            <a:endParaRPr lang="en-US" sz="1200" dirty="0"/>
          </a:p>
        </p:txBody>
      </p:sp>
      <p:sp>
        <p:nvSpPr>
          <p:cNvPr id="4" name="Shape 2"/>
          <p:cNvSpPr/>
          <p:nvPr/>
        </p:nvSpPr>
        <p:spPr>
          <a:xfrm>
            <a:off x="658368" y="1325880"/>
            <a:ext cx="2514600" cy="1234440"/>
          </a:xfrm>
          <a:prstGeom prst="roundRect">
            <a:avLst>
              <a:gd name="adj" fmla="val 5926"/>
            </a:avLst>
          </a:prstGeom>
          <a:solidFill>
            <a:srgbClr val="EAF1FB"/>
          </a:solidFill>
          <a:ln w="15240">
            <a:solidFill>
              <a:srgbClr val="B5CAE7"/>
            </a:solidFill>
            <a:prstDash val="solid"/>
          </a:ln>
          <a:effectLst>
            <a:outerShdw blurRad="19050" dist="50800" dir="2700000" algn="bl" rotWithShape="0">
              <a:srgbClr val="B9C0C8">
                <a:alpha val="18000"/>
              </a:srgbClr>
            </a:outerShdw>
          </a:effectLst>
        </p:spPr>
        <p:txBody>
          <a:bodyPr/>
          <a:lstStyle/>
          <a:p>
            <a:endParaRPr lang="en-US"/>
          </a:p>
        </p:txBody>
      </p:sp>
      <p:sp>
        <p:nvSpPr>
          <p:cNvPr id="5" name="Text 3"/>
          <p:cNvSpPr/>
          <p:nvPr/>
        </p:nvSpPr>
        <p:spPr>
          <a:xfrm>
            <a:off x="822960" y="1453896"/>
            <a:ext cx="2185416" cy="27432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Resource-aware Placement</a:t>
            </a:r>
            <a:endParaRPr lang="en-US" sz="1600" dirty="0"/>
          </a:p>
        </p:txBody>
      </p:sp>
      <p:sp>
        <p:nvSpPr>
          <p:cNvPr id="6" name="Text 4"/>
          <p:cNvSpPr/>
          <p:nvPr/>
        </p:nvSpPr>
        <p:spPr>
          <a:xfrm>
            <a:off x="822960" y="1801368"/>
            <a:ext cx="2185416" cy="63093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Match CPU, RAM, GPU type, and availability.</a:t>
            </a:r>
            <a:endParaRPr lang="en-US" sz="1250" dirty="0"/>
          </a:p>
        </p:txBody>
      </p:sp>
      <p:sp>
        <p:nvSpPr>
          <p:cNvPr id="7" name="Shape 5"/>
          <p:cNvSpPr/>
          <p:nvPr/>
        </p:nvSpPr>
        <p:spPr>
          <a:xfrm>
            <a:off x="3383280" y="1325880"/>
            <a:ext cx="2514600" cy="1234440"/>
          </a:xfrm>
          <a:prstGeom prst="roundRect">
            <a:avLst>
              <a:gd name="adj" fmla="val 5926"/>
            </a:avLst>
          </a:prstGeom>
          <a:solidFill>
            <a:srgbClr val="FFF5E3"/>
          </a:solidFill>
          <a:ln w="15240">
            <a:solidFill>
              <a:srgbClr val="E7C994"/>
            </a:solidFill>
            <a:prstDash val="solid"/>
          </a:ln>
          <a:effectLst>
            <a:outerShdw blurRad="19050" dist="50800" dir="2700000" algn="bl" rotWithShape="0">
              <a:srgbClr val="B9C0C8">
                <a:alpha val="18000"/>
              </a:srgbClr>
            </a:outerShdw>
          </a:effectLst>
        </p:spPr>
        <p:txBody>
          <a:bodyPr/>
          <a:lstStyle/>
          <a:p>
            <a:endParaRPr lang="en-US"/>
          </a:p>
        </p:txBody>
      </p:sp>
      <p:sp>
        <p:nvSpPr>
          <p:cNvPr id="8" name="Text 6"/>
          <p:cNvSpPr/>
          <p:nvPr/>
        </p:nvSpPr>
        <p:spPr>
          <a:xfrm>
            <a:off x="3547872" y="1453896"/>
            <a:ext cx="2185416" cy="274320"/>
          </a:xfrm>
          <a:prstGeom prst="rect">
            <a:avLst/>
          </a:prstGeom>
          <a:noFill/>
          <a:ln/>
        </p:spPr>
        <p:txBody>
          <a:bodyPr wrap="square" lIns="0" tIns="0" rIns="0" bIns="0" rtlCol="0" anchor="ctr"/>
          <a:lstStyle/>
          <a:p>
            <a:pPr marL="0" indent="0">
              <a:buNone/>
            </a:pPr>
            <a:r>
              <a:rPr lang="en-US" sz="1600" b="1" dirty="0">
                <a:solidFill>
                  <a:srgbClr val="B9770E"/>
                </a:solidFill>
                <a:latin typeface="Aptos Display" pitchFamily="34" charset="0"/>
                <a:ea typeface="Aptos Display" pitchFamily="34" charset="-122"/>
                <a:cs typeface="Aptos Display" pitchFamily="34" charset="-120"/>
              </a:rPr>
              <a:t>Priority</a:t>
            </a:r>
            <a:endParaRPr lang="en-US" sz="1600" dirty="0"/>
          </a:p>
        </p:txBody>
      </p:sp>
      <p:sp>
        <p:nvSpPr>
          <p:cNvPr id="9" name="Text 7"/>
          <p:cNvSpPr/>
          <p:nvPr/>
        </p:nvSpPr>
        <p:spPr>
          <a:xfrm>
            <a:off x="3547872" y="1801368"/>
            <a:ext cx="2185416" cy="63093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Important jobs can receive earlier service.</a:t>
            </a:r>
            <a:endParaRPr lang="en-US" sz="1250" dirty="0"/>
          </a:p>
        </p:txBody>
      </p:sp>
      <p:sp>
        <p:nvSpPr>
          <p:cNvPr id="10" name="Shape 8"/>
          <p:cNvSpPr/>
          <p:nvPr/>
        </p:nvSpPr>
        <p:spPr>
          <a:xfrm>
            <a:off x="6108192" y="1325880"/>
            <a:ext cx="2514600" cy="1234440"/>
          </a:xfrm>
          <a:prstGeom prst="roundRect">
            <a:avLst>
              <a:gd name="adj" fmla="val 5926"/>
            </a:avLst>
          </a:prstGeom>
          <a:solidFill>
            <a:srgbClr val="E8F4F2"/>
          </a:solidFill>
          <a:ln w="15240">
            <a:solidFill>
              <a:srgbClr val="B5D8D4"/>
            </a:solidFill>
            <a:prstDash val="solid"/>
          </a:ln>
          <a:effectLst>
            <a:outerShdw blurRad="19050" dist="50800" dir="2700000" algn="bl" rotWithShape="0">
              <a:srgbClr val="B9C0C8">
                <a:alpha val="18000"/>
              </a:srgbClr>
            </a:outerShdw>
          </a:effectLst>
        </p:spPr>
        <p:txBody>
          <a:bodyPr/>
          <a:lstStyle/>
          <a:p>
            <a:endParaRPr lang="en-US"/>
          </a:p>
        </p:txBody>
      </p:sp>
      <p:sp>
        <p:nvSpPr>
          <p:cNvPr id="11" name="Text 9"/>
          <p:cNvSpPr/>
          <p:nvPr/>
        </p:nvSpPr>
        <p:spPr>
          <a:xfrm>
            <a:off x="6272784" y="1453896"/>
            <a:ext cx="2185416" cy="274320"/>
          </a:xfrm>
          <a:prstGeom prst="rect">
            <a:avLst/>
          </a:prstGeom>
          <a:noFill/>
          <a:ln/>
        </p:spPr>
        <p:txBody>
          <a:bodyPr wrap="square" lIns="0" tIns="0" rIns="0" bIns="0" rtlCol="0" anchor="ctr"/>
          <a:lstStyle/>
          <a:p>
            <a:pPr marL="0" indent="0">
              <a:buNone/>
            </a:pPr>
            <a:r>
              <a:rPr lang="en-US" sz="1600" b="1" dirty="0">
                <a:solidFill>
                  <a:srgbClr val="2F7C78"/>
                </a:solidFill>
                <a:latin typeface="Aptos Display" pitchFamily="34" charset="0"/>
                <a:ea typeface="Aptos Display" pitchFamily="34" charset="-122"/>
                <a:cs typeface="Aptos Display" pitchFamily="34" charset="-120"/>
              </a:rPr>
              <a:t>Fairness</a:t>
            </a:r>
            <a:endParaRPr lang="en-US" sz="1600" dirty="0"/>
          </a:p>
        </p:txBody>
      </p:sp>
      <p:sp>
        <p:nvSpPr>
          <p:cNvPr id="12" name="Text 10"/>
          <p:cNvSpPr/>
          <p:nvPr/>
        </p:nvSpPr>
        <p:spPr>
          <a:xfrm>
            <a:off x="6272784" y="1801368"/>
            <a:ext cx="2185416" cy="63093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Waiting time and recent resource use affect scheduling score.</a:t>
            </a:r>
            <a:endParaRPr lang="en-US" sz="1250" dirty="0"/>
          </a:p>
        </p:txBody>
      </p:sp>
      <p:sp>
        <p:nvSpPr>
          <p:cNvPr id="13" name="Shape 11"/>
          <p:cNvSpPr/>
          <p:nvPr/>
        </p:nvSpPr>
        <p:spPr>
          <a:xfrm>
            <a:off x="8833104" y="1325880"/>
            <a:ext cx="2514600" cy="1234440"/>
          </a:xfrm>
          <a:prstGeom prst="roundRect">
            <a:avLst>
              <a:gd name="adj" fmla="val 5926"/>
            </a:avLst>
          </a:prstGeom>
          <a:solidFill>
            <a:srgbClr val="ECF7ED"/>
          </a:solidFill>
          <a:ln w="15240">
            <a:solidFill>
              <a:srgbClr val="B5D5B6"/>
            </a:solidFill>
            <a:prstDash val="solid"/>
          </a:ln>
          <a:effectLst>
            <a:outerShdw blurRad="19050" dist="50800" dir="2700000" algn="bl" rotWithShape="0">
              <a:srgbClr val="B9C0C8">
                <a:alpha val="18000"/>
              </a:srgbClr>
            </a:outerShdw>
          </a:effectLst>
        </p:spPr>
        <p:txBody>
          <a:bodyPr/>
          <a:lstStyle/>
          <a:p>
            <a:endParaRPr lang="en-US"/>
          </a:p>
        </p:txBody>
      </p:sp>
      <p:sp>
        <p:nvSpPr>
          <p:cNvPr id="14" name="Text 12"/>
          <p:cNvSpPr/>
          <p:nvPr/>
        </p:nvSpPr>
        <p:spPr>
          <a:xfrm>
            <a:off x="8997696" y="1453896"/>
            <a:ext cx="2185416" cy="274320"/>
          </a:xfrm>
          <a:prstGeom prst="rect">
            <a:avLst/>
          </a:prstGeom>
          <a:noFill/>
          <a:ln/>
        </p:spPr>
        <p:txBody>
          <a:bodyPr wrap="square" lIns="0" tIns="0" rIns="0" bIns="0" rtlCol="0" anchor="ctr"/>
          <a:lstStyle/>
          <a:p>
            <a:pPr marL="0" indent="0">
              <a:buNone/>
            </a:pPr>
            <a:r>
              <a:rPr lang="en-US" sz="1600" b="1" dirty="0">
                <a:solidFill>
                  <a:srgbClr val="2F7D32"/>
                </a:solidFill>
                <a:latin typeface="Aptos Display" pitchFamily="34" charset="0"/>
                <a:ea typeface="Aptos Display" pitchFamily="34" charset="-122"/>
                <a:cs typeface="Aptos Display" pitchFamily="34" charset="-120"/>
              </a:rPr>
              <a:t>Backfilling</a:t>
            </a:r>
            <a:endParaRPr lang="en-US" sz="1600" dirty="0"/>
          </a:p>
        </p:txBody>
      </p:sp>
      <p:sp>
        <p:nvSpPr>
          <p:cNvPr id="15" name="Text 13"/>
          <p:cNvSpPr/>
          <p:nvPr/>
        </p:nvSpPr>
        <p:spPr>
          <a:xfrm>
            <a:off x="8997696" y="1801368"/>
            <a:ext cx="2185416" cy="63093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Use idle resources without unnecessarily delaying larger jobs.</a:t>
            </a:r>
            <a:endParaRPr lang="en-US" sz="1250" dirty="0"/>
          </a:p>
        </p:txBody>
      </p:sp>
      <p:sp>
        <p:nvSpPr>
          <p:cNvPr id="16" name="Text 14"/>
          <p:cNvSpPr/>
          <p:nvPr/>
        </p:nvSpPr>
        <p:spPr>
          <a:xfrm>
            <a:off x="713232" y="2999232"/>
            <a:ext cx="2194560" cy="320040"/>
          </a:xfrm>
          <a:prstGeom prst="rect">
            <a:avLst/>
          </a:prstGeom>
          <a:noFill/>
          <a:ln/>
        </p:spPr>
        <p:txBody>
          <a:bodyPr wrap="square" lIns="0" tIns="0" rIns="0" bIns="0" rtlCol="0" anchor="ctr"/>
          <a:lstStyle/>
          <a:p>
            <a:pPr marL="0" indent="0">
              <a:buNone/>
            </a:pPr>
            <a:r>
              <a:rPr lang="en-US" sz="1900" b="1" dirty="0">
                <a:solidFill>
                  <a:srgbClr val="1F2937"/>
                </a:solidFill>
                <a:latin typeface="Aptos Display" pitchFamily="34" charset="0"/>
                <a:ea typeface="Aptos Display" pitchFamily="34" charset="-122"/>
                <a:cs typeface="Aptos Display" pitchFamily="34" charset="-120"/>
              </a:rPr>
              <a:t>Backfilling Example</a:t>
            </a:r>
            <a:endParaRPr lang="en-US" sz="1900" dirty="0"/>
          </a:p>
        </p:txBody>
      </p:sp>
      <p:sp>
        <p:nvSpPr>
          <p:cNvPr id="17" name="Shape 15"/>
          <p:cNvSpPr/>
          <p:nvPr/>
        </p:nvSpPr>
        <p:spPr>
          <a:xfrm>
            <a:off x="713232" y="3493008"/>
            <a:ext cx="2331720" cy="1325880"/>
          </a:xfrm>
          <a:prstGeom prst="roundRect">
            <a:avLst>
              <a:gd name="adj" fmla="val 5517"/>
            </a:avLst>
          </a:prstGeom>
          <a:solidFill>
            <a:srgbClr val="FFFFFF"/>
          </a:solidFill>
          <a:ln w="15240">
            <a:solidFill>
              <a:srgbClr val="CBD3DC"/>
            </a:solidFill>
            <a:prstDash val="solid"/>
          </a:ln>
        </p:spPr>
        <p:txBody>
          <a:bodyPr/>
          <a:lstStyle/>
          <a:p>
            <a:endParaRPr lang="en-US"/>
          </a:p>
        </p:txBody>
      </p:sp>
      <p:sp>
        <p:nvSpPr>
          <p:cNvPr id="18" name="Text 16"/>
          <p:cNvSpPr/>
          <p:nvPr/>
        </p:nvSpPr>
        <p:spPr>
          <a:xfrm>
            <a:off x="877824" y="3621024"/>
            <a:ext cx="2002536" cy="27432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Job A</a:t>
            </a:r>
            <a:endParaRPr lang="en-US" sz="1600" dirty="0"/>
          </a:p>
        </p:txBody>
      </p:sp>
      <p:sp>
        <p:nvSpPr>
          <p:cNvPr id="19" name="Text 17"/>
          <p:cNvSpPr/>
          <p:nvPr/>
        </p:nvSpPr>
        <p:spPr>
          <a:xfrm>
            <a:off x="877824" y="3968496"/>
            <a:ext cx="2002536" cy="72237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Needs a large-memory GPU</a:t>
            </a:r>
            <a:endParaRPr lang="en-US" sz="1250" dirty="0"/>
          </a:p>
          <a:p>
            <a:pPr marL="0" indent="0">
              <a:buNone/>
            </a:pPr>
            <a:r>
              <a:rPr lang="en-US" sz="1250" dirty="0">
                <a:solidFill>
                  <a:srgbClr val="1F2937"/>
                </a:solidFill>
                <a:latin typeface="Aptos" pitchFamily="34" charset="0"/>
                <a:ea typeface="Aptos" pitchFamily="34" charset="-122"/>
                <a:cs typeface="Aptos" pitchFamily="34" charset="-120"/>
              </a:rPr>
              <a:t>Queue position: 1</a:t>
            </a:r>
            <a:endParaRPr lang="en-US" sz="1250" dirty="0"/>
          </a:p>
        </p:txBody>
      </p:sp>
      <p:sp>
        <p:nvSpPr>
          <p:cNvPr id="20" name="Shape 18"/>
          <p:cNvSpPr/>
          <p:nvPr/>
        </p:nvSpPr>
        <p:spPr>
          <a:xfrm>
            <a:off x="3346704" y="3493008"/>
            <a:ext cx="2331720" cy="1325880"/>
          </a:xfrm>
          <a:prstGeom prst="roundRect">
            <a:avLst>
              <a:gd name="adj" fmla="val 5517"/>
            </a:avLst>
          </a:prstGeom>
          <a:solidFill>
            <a:srgbClr val="FFFFFF"/>
          </a:solidFill>
          <a:ln w="15240">
            <a:solidFill>
              <a:srgbClr val="CBD3DC"/>
            </a:solidFill>
            <a:prstDash val="solid"/>
          </a:ln>
        </p:spPr>
        <p:txBody>
          <a:bodyPr/>
          <a:lstStyle/>
          <a:p>
            <a:endParaRPr lang="en-US"/>
          </a:p>
        </p:txBody>
      </p:sp>
      <p:sp>
        <p:nvSpPr>
          <p:cNvPr id="21" name="Text 19"/>
          <p:cNvSpPr/>
          <p:nvPr/>
        </p:nvSpPr>
        <p:spPr>
          <a:xfrm>
            <a:off x="3511296" y="3621024"/>
            <a:ext cx="2002536" cy="27432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Available</a:t>
            </a:r>
            <a:endParaRPr lang="en-US" sz="1600" dirty="0"/>
          </a:p>
        </p:txBody>
      </p:sp>
      <p:sp>
        <p:nvSpPr>
          <p:cNvPr id="22" name="Text 20"/>
          <p:cNvSpPr/>
          <p:nvPr/>
        </p:nvSpPr>
        <p:spPr>
          <a:xfrm>
            <a:off x="3511296" y="3968496"/>
            <a:ext cx="2002536" cy="72237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Only a smaller GPU is free</a:t>
            </a:r>
            <a:endParaRPr lang="en-US" sz="1250" dirty="0"/>
          </a:p>
        </p:txBody>
      </p:sp>
      <p:sp>
        <p:nvSpPr>
          <p:cNvPr id="23" name="Shape 21"/>
          <p:cNvSpPr/>
          <p:nvPr/>
        </p:nvSpPr>
        <p:spPr>
          <a:xfrm>
            <a:off x="5980176" y="3493008"/>
            <a:ext cx="2331720" cy="1325880"/>
          </a:xfrm>
          <a:prstGeom prst="roundRect">
            <a:avLst>
              <a:gd name="adj" fmla="val 5517"/>
            </a:avLst>
          </a:prstGeom>
          <a:solidFill>
            <a:srgbClr val="FFFFFF"/>
          </a:solidFill>
          <a:ln w="15240">
            <a:solidFill>
              <a:srgbClr val="CBD3DC"/>
            </a:solidFill>
            <a:prstDash val="solid"/>
          </a:ln>
        </p:spPr>
        <p:txBody>
          <a:bodyPr/>
          <a:lstStyle/>
          <a:p>
            <a:endParaRPr lang="en-US"/>
          </a:p>
        </p:txBody>
      </p:sp>
      <p:sp>
        <p:nvSpPr>
          <p:cNvPr id="24" name="Text 22"/>
          <p:cNvSpPr/>
          <p:nvPr/>
        </p:nvSpPr>
        <p:spPr>
          <a:xfrm>
            <a:off x="6144768" y="3621024"/>
            <a:ext cx="2002536" cy="27432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Job B</a:t>
            </a:r>
            <a:endParaRPr lang="en-US" sz="1600" dirty="0"/>
          </a:p>
        </p:txBody>
      </p:sp>
      <p:sp>
        <p:nvSpPr>
          <p:cNvPr id="25" name="Text 23"/>
          <p:cNvSpPr/>
          <p:nvPr/>
        </p:nvSpPr>
        <p:spPr>
          <a:xfrm>
            <a:off x="6144768" y="3968496"/>
            <a:ext cx="2002536" cy="722376"/>
          </a:xfrm>
          <a:prstGeom prst="rect">
            <a:avLst/>
          </a:prstGeom>
          <a:noFill/>
          <a:ln/>
        </p:spPr>
        <p:txBody>
          <a:bodyPr wrap="square" lIns="254" tIns="254" rIns="254" bIns="254" rtlCol="0" anchor="ctr"/>
          <a:lstStyle/>
          <a:p>
            <a:pPr marL="0" indent="0">
              <a:buNone/>
            </a:pPr>
            <a:r>
              <a:rPr lang="en-US" sz="1250" dirty="0">
                <a:solidFill>
                  <a:srgbClr val="1F2937"/>
                </a:solidFill>
                <a:latin typeface="Aptos" pitchFamily="34" charset="0"/>
                <a:ea typeface="Aptos" pitchFamily="34" charset="-122"/>
                <a:cs typeface="Aptos" pitchFamily="34" charset="-120"/>
              </a:rPr>
              <a:t>Fits on the smaller GPU</a:t>
            </a:r>
            <a:endParaRPr lang="en-US" sz="1250" dirty="0"/>
          </a:p>
          <a:p>
            <a:pPr marL="0" indent="0">
              <a:buNone/>
            </a:pPr>
            <a:r>
              <a:rPr lang="en-US" sz="1250" dirty="0">
                <a:solidFill>
                  <a:srgbClr val="1F2937"/>
                </a:solidFill>
                <a:latin typeface="Aptos" pitchFamily="34" charset="0"/>
                <a:ea typeface="Aptos" pitchFamily="34" charset="-122"/>
                <a:cs typeface="Aptos" pitchFamily="34" charset="-120"/>
              </a:rPr>
              <a:t>Short estimated duration</a:t>
            </a:r>
            <a:endParaRPr lang="en-US" sz="1250" dirty="0"/>
          </a:p>
        </p:txBody>
      </p:sp>
      <p:sp>
        <p:nvSpPr>
          <p:cNvPr id="26" name="Shape 24"/>
          <p:cNvSpPr/>
          <p:nvPr/>
        </p:nvSpPr>
        <p:spPr>
          <a:xfrm>
            <a:off x="3044952" y="4160520"/>
            <a:ext cx="301752" cy="0"/>
          </a:xfrm>
          <a:prstGeom prst="line">
            <a:avLst/>
          </a:prstGeom>
          <a:noFill/>
          <a:ln w="22860">
            <a:solidFill>
              <a:srgbClr val="5B6573"/>
            </a:solidFill>
            <a:prstDash val="solid"/>
            <a:headEnd type="none"/>
            <a:tailEnd type="triangle"/>
          </a:ln>
        </p:spPr>
        <p:txBody>
          <a:bodyPr/>
          <a:lstStyle/>
          <a:p>
            <a:endParaRPr lang="en-US"/>
          </a:p>
        </p:txBody>
      </p:sp>
      <p:sp>
        <p:nvSpPr>
          <p:cNvPr id="27" name="Shape 25"/>
          <p:cNvSpPr/>
          <p:nvPr/>
        </p:nvSpPr>
        <p:spPr>
          <a:xfrm>
            <a:off x="5678424" y="4160520"/>
            <a:ext cx="301752" cy="0"/>
          </a:xfrm>
          <a:prstGeom prst="line">
            <a:avLst/>
          </a:prstGeom>
          <a:noFill/>
          <a:ln w="22860">
            <a:solidFill>
              <a:srgbClr val="5B6573"/>
            </a:solidFill>
            <a:prstDash val="solid"/>
            <a:headEnd type="none"/>
            <a:tailEnd type="triangle"/>
          </a:ln>
        </p:spPr>
        <p:txBody>
          <a:bodyPr/>
          <a:lstStyle/>
          <a:p>
            <a:endParaRPr lang="en-US"/>
          </a:p>
        </p:txBody>
      </p:sp>
      <p:sp>
        <p:nvSpPr>
          <p:cNvPr id="28" name="Shape 26"/>
          <p:cNvSpPr/>
          <p:nvPr/>
        </p:nvSpPr>
        <p:spPr>
          <a:xfrm>
            <a:off x="8631936" y="3355848"/>
            <a:ext cx="2514600" cy="1600200"/>
          </a:xfrm>
          <a:prstGeom prst="roundRect">
            <a:avLst>
              <a:gd name="adj" fmla="val 4571"/>
            </a:avLst>
          </a:prstGeom>
          <a:solidFill>
            <a:srgbClr val="E8F4F2"/>
          </a:solidFill>
          <a:ln w="15240">
            <a:solidFill>
              <a:srgbClr val="9BCAC5"/>
            </a:solidFill>
            <a:prstDash val="solid"/>
          </a:ln>
        </p:spPr>
        <p:txBody>
          <a:bodyPr/>
          <a:lstStyle/>
          <a:p>
            <a:endParaRPr lang="en-US"/>
          </a:p>
        </p:txBody>
      </p:sp>
      <p:sp>
        <p:nvSpPr>
          <p:cNvPr id="29" name="Text 27"/>
          <p:cNvSpPr/>
          <p:nvPr/>
        </p:nvSpPr>
        <p:spPr>
          <a:xfrm>
            <a:off x="8869680" y="3611880"/>
            <a:ext cx="1097280" cy="256032"/>
          </a:xfrm>
          <a:prstGeom prst="rect">
            <a:avLst/>
          </a:prstGeom>
          <a:noFill/>
          <a:ln/>
        </p:spPr>
        <p:txBody>
          <a:bodyPr wrap="square" lIns="0" tIns="0" rIns="0" bIns="0" rtlCol="0" anchor="ctr"/>
          <a:lstStyle/>
          <a:p>
            <a:pPr marL="0" indent="0">
              <a:buNone/>
            </a:pPr>
            <a:r>
              <a:rPr lang="en-US" sz="1600" b="1" dirty="0">
                <a:solidFill>
                  <a:srgbClr val="2F7C78"/>
                </a:solidFill>
              </a:rPr>
              <a:t>Decision</a:t>
            </a:r>
            <a:endParaRPr lang="en-US" sz="1600" dirty="0"/>
          </a:p>
        </p:txBody>
      </p:sp>
      <p:sp>
        <p:nvSpPr>
          <p:cNvPr id="30" name="Text 28"/>
          <p:cNvSpPr/>
          <p:nvPr/>
        </p:nvSpPr>
        <p:spPr>
          <a:xfrm>
            <a:off x="8869680" y="3986784"/>
            <a:ext cx="1828800" cy="658368"/>
          </a:xfrm>
          <a:prstGeom prst="rect">
            <a:avLst/>
          </a:prstGeom>
          <a:noFill/>
          <a:ln/>
        </p:spPr>
        <p:txBody>
          <a:bodyPr wrap="square" lIns="0" tIns="0" rIns="0" bIns="0" rtlCol="0" anchor="ctr"/>
          <a:lstStyle/>
          <a:p>
            <a:pPr marL="0" indent="0">
              <a:buNone/>
            </a:pPr>
            <a:r>
              <a:rPr lang="en-US" sz="1400" b="1" dirty="0">
                <a:solidFill>
                  <a:srgbClr val="1F2937"/>
                </a:solidFill>
              </a:rPr>
              <a:t>Run Job B first if it can finish before Job A is ready.</a:t>
            </a:r>
            <a:endParaRPr lang="en-US" sz="1400" dirty="0"/>
          </a:p>
        </p:txBody>
      </p:sp>
      <p:sp>
        <p:nvSpPr>
          <p:cNvPr id="31"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692082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84048"/>
            <a:ext cx="10972800" cy="438912"/>
          </a:xfrm>
          <a:prstGeom prst="rect">
            <a:avLst/>
          </a:prstGeom>
          <a:noFill/>
          <a:ln/>
        </p:spPr>
        <p:txBody>
          <a:bodyPr wrap="square" lIns="0" tIns="0" rIns="0" bIns="0" rtlCol="0" anchor="ctr"/>
          <a:lstStyle/>
          <a:p>
            <a:pPr marL="0" indent="0">
              <a:buNone/>
            </a:pPr>
            <a:r>
              <a:rPr lang="en-US" sz="2600" b="1" dirty="0">
                <a:solidFill>
                  <a:srgbClr val="1F2937"/>
                </a:solidFill>
                <a:latin typeface="Aptos Display" pitchFamily="34" charset="0"/>
                <a:ea typeface="Aptos Display" pitchFamily="34" charset="-122"/>
                <a:cs typeface="Aptos Display" pitchFamily="34" charset="-120"/>
              </a:rPr>
              <a:t>What We Will Build</a:t>
            </a:r>
            <a:endParaRPr lang="en-US" sz="2600" dirty="0"/>
          </a:p>
        </p:txBody>
      </p:sp>
      <p:sp>
        <p:nvSpPr>
          <p:cNvPr id="3" name="Text 1"/>
          <p:cNvSpPr/>
          <p:nvPr/>
        </p:nvSpPr>
        <p:spPr>
          <a:xfrm>
            <a:off x="621792" y="841248"/>
            <a:ext cx="10789920" cy="274320"/>
          </a:xfrm>
          <a:prstGeom prst="rect">
            <a:avLst/>
          </a:prstGeom>
          <a:noFill/>
          <a:ln/>
        </p:spPr>
        <p:txBody>
          <a:bodyPr wrap="square" lIns="0" tIns="0" rIns="0" bIns="0" rtlCol="0" anchor="ctr"/>
          <a:lstStyle/>
          <a:p>
            <a:pPr marL="0" indent="0">
              <a:buNone/>
            </a:pPr>
            <a:r>
              <a:rPr lang="en-US" sz="1200" dirty="0">
                <a:solidFill>
                  <a:srgbClr val="6B7280"/>
                </a:solidFill>
                <a:latin typeface="Aptos" pitchFamily="34" charset="0"/>
                <a:ea typeface="Aptos" pitchFamily="34" charset="-122"/>
                <a:cs typeface="Aptos" pitchFamily="34" charset="-120"/>
              </a:rPr>
              <a:t>A working prototype that runs on our own lab machines.</a:t>
            </a:r>
            <a:endParaRPr lang="en-US" sz="1200" dirty="0"/>
          </a:p>
        </p:txBody>
      </p:sp>
      <p:sp>
        <p:nvSpPr>
          <p:cNvPr id="4" name="Shape 2"/>
          <p:cNvSpPr/>
          <p:nvPr/>
        </p:nvSpPr>
        <p:spPr>
          <a:xfrm>
            <a:off x="635000" y="1320800"/>
            <a:ext cx="5207000" cy="1968500"/>
          </a:xfrm>
          <a:prstGeom prst="roundRect">
            <a:avLst>
              <a:gd name="adj" fmla="val 3721"/>
            </a:avLst>
          </a:prstGeom>
          <a:solidFill>
            <a:srgbClr val="FFFFFF"/>
          </a:solidFill>
          <a:ln w="15240">
            <a:solidFill>
              <a:srgbClr val="D7DDE5"/>
            </a:solidFill>
            <a:prstDash val="solid"/>
          </a:ln>
          <a:effectLst>
            <a:outerShdw blurRad="19050" dist="50800" dir="2700000" algn="bl" rotWithShape="0">
              <a:srgbClr val="B9C0C8">
                <a:alpha val="18000"/>
              </a:srgbClr>
            </a:outerShdw>
          </a:effectLst>
        </p:spPr>
        <p:txBody>
          <a:bodyPr/>
          <a:lstStyle/>
          <a:p>
            <a:endParaRPr lang="en-US"/>
          </a:p>
        </p:txBody>
      </p:sp>
      <p:sp>
        <p:nvSpPr>
          <p:cNvPr id="5" name="Text 3"/>
          <p:cNvSpPr/>
          <p:nvPr/>
        </p:nvSpPr>
        <p:spPr>
          <a:xfrm>
            <a:off x="800100" y="1447800"/>
            <a:ext cx="4876800" cy="279400"/>
          </a:xfrm>
          <a:prstGeom prst="rect">
            <a:avLst/>
          </a:prstGeom>
          <a:noFill/>
          <a:ln/>
        </p:spPr>
        <p:txBody>
          <a:bodyPr wrap="square" lIns="0" tIns="0" rIns="0" bIns="0" rtlCol="0" anchor="ctr"/>
          <a:lstStyle/>
          <a:p>
            <a:pPr marL="0" indent="0">
              <a:buNone/>
            </a:pPr>
            <a:r>
              <a:rPr lang="en-US" sz="1600" b="1" dirty="0">
                <a:solidFill>
                  <a:srgbClr val="244A7C"/>
                </a:solidFill>
                <a:latin typeface="Aptos Display" pitchFamily="34" charset="0"/>
                <a:ea typeface="Aptos Display" pitchFamily="34" charset="-122"/>
                <a:cs typeface="Aptos Display" pitchFamily="34" charset="-120"/>
              </a:rPr>
              <a:t>Core System</a:t>
            </a:r>
            <a:endParaRPr lang="en-US" sz="1600" dirty="0"/>
          </a:p>
        </p:txBody>
      </p:sp>
      <p:sp>
        <p:nvSpPr>
          <p:cNvPr id="6" name="Text 4"/>
          <p:cNvSpPr/>
          <p:nvPr/>
        </p:nvSpPr>
        <p:spPr>
          <a:xfrm>
            <a:off x="800100" y="1803400"/>
            <a:ext cx="4876800" cy="1358900"/>
          </a:xfrm>
          <a:prstGeom prst="rect">
            <a:avLst/>
          </a:prstGeom>
          <a:noFill/>
          <a:ln/>
        </p:spPr>
        <p:txBody>
          <a:bodyPr wrap="square" lIns="254" tIns="254" rIns="254" bIns="254" rtlCol="0" anchor="t"/>
          <a:lstStyle/>
          <a:p>
            <a:pPr marL="0" indent="0">
              <a:buNone/>
            </a:pPr>
            <a:r>
              <a:rPr lang="en-US" sz="1400" dirty="0">
                <a:solidFill>
                  <a:srgbClr val="1F2937"/>
                </a:solidFill>
                <a:latin typeface="Aptos"/>
                <a:ea typeface="Aptos" pitchFamily="34" charset="-122"/>
                <a:cs typeface="Aptos" pitchFamily="34" charset="-120"/>
              </a:rPr>
              <a:t>Central scheduler</a:t>
            </a:r>
            <a:endParaRPr lang="en-US" sz="1400" dirty="0">
              <a:latin typeface="Aptos"/>
            </a:endParaRPr>
          </a:p>
          <a:p>
            <a:pPr marL="0" indent="0">
              <a:buNone/>
            </a:pPr>
            <a:r>
              <a:rPr lang="en-US" sz="1400" dirty="0">
                <a:solidFill>
                  <a:srgbClr val="1F2937"/>
                </a:solidFill>
                <a:latin typeface="Aptos"/>
                <a:ea typeface="Aptos" pitchFamily="34" charset="-122"/>
                <a:cs typeface="Aptos" pitchFamily="34" charset="-120"/>
              </a:rPr>
              <a:t>Worker daemon on each node</a:t>
            </a:r>
            <a:endParaRPr lang="en-US" sz="1400" dirty="0">
              <a:latin typeface="Aptos"/>
            </a:endParaRPr>
          </a:p>
          <a:p>
            <a:pPr marL="0" indent="0">
              <a:buNone/>
            </a:pPr>
            <a:r>
              <a:rPr lang="en-US" sz="1400" dirty="0">
                <a:solidFill>
                  <a:srgbClr val="1F2937"/>
                </a:solidFill>
                <a:latin typeface="Aptos"/>
                <a:ea typeface="Aptos" pitchFamily="34" charset="-122"/>
                <a:cs typeface="Aptos" pitchFamily="34" charset="-120"/>
              </a:rPr>
              <a:t>Job submission interface</a:t>
            </a:r>
            <a:endParaRPr lang="en-US" sz="1400" dirty="0">
              <a:latin typeface="Aptos"/>
            </a:endParaRPr>
          </a:p>
          <a:p>
            <a:pPr marL="0" indent="0">
              <a:buNone/>
            </a:pPr>
            <a:r>
              <a:rPr lang="en-US" sz="1400" dirty="0">
                <a:solidFill>
                  <a:srgbClr val="1F2937"/>
                </a:solidFill>
                <a:latin typeface="Aptos"/>
                <a:ea typeface="Aptos" pitchFamily="34" charset="-122"/>
                <a:cs typeface="Aptos" pitchFamily="34" charset="-120"/>
              </a:rPr>
              <a:t>Monitoring dashboard</a:t>
            </a:r>
            <a:endParaRPr lang="en-US" sz="1400" dirty="0">
              <a:latin typeface="Aptos"/>
            </a:endParaRPr>
          </a:p>
        </p:txBody>
      </p:sp>
      <p:sp>
        <p:nvSpPr>
          <p:cNvPr id="7" name="Shape 5"/>
          <p:cNvSpPr/>
          <p:nvPr/>
        </p:nvSpPr>
        <p:spPr>
          <a:xfrm>
            <a:off x="6350000" y="1320800"/>
            <a:ext cx="5207000" cy="1968500"/>
          </a:xfrm>
          <a:prstGeom prst="roundRect">
            <a:avLst>
              <a:gd name="adj" fmla="val 3721"/>
            </a:avLst>
          </a:prstGeom>
          <a:solidFill>
            <a:srgbClr val="FFFFFF"/>
          </a:solidFill>
          <a:ln w="15240">
            <a:solidFill>
              <a:srgbClr val="D7DDE5"/>
            </a:solidFill>
            <a:prstDash val="solid"/>
          </a:ln>
          <a:effectLst>
            <a:outerShdw blurRad="19050" dist="50800" dir="2700000" algn="bl" rotWithShape="0">
              <a:srgbClr val="B9C0C8">
                <a:alpha val="18000"/>
              </a:srgbClr>
            </a:outerShdw>
          </a:effectLst>
        </p:spPr>
        <p:txBody>
          <a:bodyPr/>
          <a:lstStyle/>
          <a:p>
            <a:endParaRPr lang="en-US"/>
          </a:p>
        </p:txBody>
      </p:sp>
      <p:sp>
        <p:nvSpPr>
          <p:cNvPr id="8" name="Text 6"/>
          <p:cNvSpPr/>
          <p:nvPr/>
        </p:nvSpPr>
        <p:spPr>
          <a:xfrm>
            <a:off x="6515100" y="1447800"/>
            <a:ext cx="4876800" cy="279400"/>
          </a:xfrm>
          <a:prstGeom prst="rect">
            <a:avLst/>
          </a:prstGeom>
          <a:noFill/>
          <a:ln/>
        </p:spPr>
        <p:txBody>
          <a:bodyPr wrap="square" lIns="0" tIns="0" rIns="0" bIns="0" rtlCol="0" anchor="ctr"/>
          <a:lstStyle/>
          <a:p>
            <a:pPr marL="0" indent="0">
              <a:buNone/>
            </a:pPr>
            <a:r>
              <a:rPr lang="en-US" sz="1600" b="1" dirty="0">
                <a:solidFill>
                  <a:srgbClr val="2F7C78"/>
                </a:solidFill>
                <a:latin typeface="Aptos Display" pitchFamily="34" charset="0"/>
                <a:ea typeface="Aptos Display" pitchFamily="34" charset="-122"/>
                <a:cs typeface="Aptos Display" pitchFamily="34" charset="-120"/>
              </a:rPr>
              <a:t>One Pool, Three Kinds of Work</a:t>
            </a:r>
            <a:endParaRPr lang="en-US" sz="1600" dirty="0"/>
          </a:p>
        </p:txBody>
      </p:sp>
      <p:sp>
        <p:nvSpPr>
          <p:cNvPr id="9" name="Text 7"/>
          <p:cNvSpPr/>
          <p:nvPr/>
        </p:nvSpPr>
        <p:spPr>
          <a:xfrm>
            <a:off x="6515100" y="1803400"/>
            <a:ext cx="4876800" cy="1358900"/>
          </a:xfrm>
          <a:prstGeom prst="rect">
            <a:avLst/>
          </a:prstGeom>
          <a:noFill/>
          <a:ln/>
        </p:spPr>
        <p:txBody>
          <a:bodyPr wrap="square" lIns="254" tIns="254" rIns="254" bIns="254" rtlCol="0" anchor="t"/>
          <a:lstStyle/>
          <a:p>
            <a:pPr marL="0" indent="0">
              <a:buNone/>
            </a:pPr>
            <a:r>
              <a:rPr lang="en-US" sz="1400" dirty="0">
                <a:solidFill>
                  <a:srgbClr val="1F2937"/>
                </a:solidFill>
                <a:ea typeface="Aptos" pitchFamily="34" charset="-122"/>
                <a:cs typeface="Aptos" pitchFamily="34" charset="-120"/>
              </a:rPr>
              <a:t>Training runs: priority queue + backfilling</a:t>
            </a:r>
            <a:endParaRPr lang="en-US" sz="1400" dirty="0"/>
          </a:p>
          <a:p>
            <a:pPr marL="0" indent="0">
              <a:buNone/>
            </a:pPr>
            <a:r>
              <a:rPr lang="en-US" sz="1400" dirty="0">
                <a:solidFill>
                  <a:srgbClr val="1F2937"/>
                </a:solidFill>
                <a:ea typeface="Aptos" pitchFamily="34" charset="-122"/>
                <a:cs typeface="Aptos" pitchFamily="34" charset="-120"/>
              </a:rPr>
              <a:t>Quick tests: fast lane with a time limit</a:t>
            </a:r>
            <a:endParaRPr lang="en-US" sz="1400" dirty="0"/>
          </a:p>
          <a:p>
            <a:pPr marL="0" indent="0">
              <a:buNone/>
            </a:pPr>
            <a:r>
              <a:rPr lang="en-US" sz="1400" dirty="0">
                <a:solidFill>
                  <a:srgbClr val="1F2937"/>
                </a:solidFill>
                <a:ea typeface="Aptos" pitchFamily="34" charset="-122"/>
                <a:cs typeface="Aptos" pitchFamily="34" charset="-120"/>
              </a:rPr>
              <a:t>Agent development: shared model service</a:t>
            </a:r>
            <a:endParaRPr lang="en-US" sz="1400" dirty="0"/>
          </a:p>
        </p:txBody>
      </p:sp>
      <p:sp>
        <p:nvSpPr>
          <p:cNvPr id="13" name="Shape 11"/>
          <p:cNvSpPr/>
          <p:nvPr/>
        </p:nvSpPr>
        <p:spPr>
          <a:xfrm>
            <a:off x="640080" y="3794760"/>
            <a:ext cx="10927080" cy="1417320"/>
          </a:xfrm>
          <a:prstGeom prst="roundRect">
            <a:avLst>
              <a:gd name="adj" fmla="val 6452"/>
            </a:avLst>
          </a:prstGeom>
          <a:solidFill>
            <a:srgbClr val="E8F4F2"/>
          </a:solidFill>
          <a:ln w="15240">
            <a:solidFill>
              <a:srgbClr val="A5D0CB"/>
            </a:solidFill>
            <a:prstDash val="solid"/>
          </a:ln>
        </p:spPr>
        <p:txBody>
          <a:bodyPr/>
          <a:lstStyle/>
          <a:p>
            <a:endParaRPr lang="en-US"/>
          </a:p>
        </p:txBody>
      </p:sp>
      <p:sp>
        <p:nvSpPr>
          <p:cNvPr id="14" name="Text 12"/>
          <p:cNvSpPr/>
          <p:nvPr/>
        </p:nvSpPr>
        <p:spPr>
          <a:xfrm>
            <a:off x="914400" y="4069080"/>
            <a:ext cx="1828800" cy="292608"/>
          </a:xfrm>
          <a:prstGeom prst="rect">
            <a:avLst/>
          </a:prstGeom>
          <a:noFill/>
          <a:ln/>
        </p:spPr>
        <p:txBody>
          <a:bodyPr wrap="square" lIns="0" tIns="0" rIns="0" bIns="0" rtlCol="0" anchor="ctr"/>
          <a:lstStyle/>
          <a:p>
            <a:pPr marL="0" indent="0">
              <a:buNone/>
            </a:pPr>
            <a:r>
              <a:rPr lang="en-US" sz="1800" b="1" dirty="0">
                <a:solidFill>
                  <a:srgbClr val="2F7C78"/>
                </a:solidFill>
                <a:latin typeface="Aptos Display" pitchFamily="34" charset="0"/>
                <a:ea typeface="Aptos Display" pitchFamily="34" charset="-122"/>
                <a:cs typeface="Aptos Display" pitchFamily="34" charset="-120"/>
              </a:rPr>
              <a:t>Outcome</a:t>
            </a:r>
            <a:endParaRPr lang="en-US" sz="1800" dirty="0"/>
          </a:p>
        </p:txBody>
      </p:sp>
      <p:sp>
        <p:nvSpPr>
          <p:cNvPr id="15" name="Text 13"/>
          <p:cNvSpPr/>
          <p:nvPr/>
        </p:nvSpPr>
        <p:spPr>
          <a:xfrm>
            <a:off x="2743200" y="3913632"/>
            <a:ext cx="8092440" cy="694944"/>
          </a:xfrm>
          <a:prstGeom prst="rect">
            <a:avLst/>
          </a:prstGeom>
          <a:noFill/>
          <a:ln/>
        </p:spPr>
        <p:txBody>
          <a:bodyPr wrap="square" lIns="0" tIns="0" rIns="0" bIns="0" rtlCol="0" anchor="ctr"/>
          <a:lstStyle/>
          <a:p>
            <a:pPr marL="0" indent="0">
              <a:buNone/>
            </a:pPr>
            <a:r>
              <a:rPr lang="en-US" sz="1600" b="1" dirty="0">
                <a:solidFill>
                  <a:srgbClr val="1F2937"/>
                </a:solidFill>
                <a:latin typeface="Aptos" pitchFamily="34" charset="0"/>
                <a:ea typeface="Aptos" pitchFamily="34" charset="-122"/>
                <a:cs typeface="Aptos" pitchFamily="34" charset="-120"/>
              </a:rPr>
              <a:t>Everyone submits work to one scheduler instead of reserving machines on a spreadsheet.</a:t>
            </a:r>
            <a:endParaRPr lang="en-US" sz="1600" dirty="0"/>
          </a:p>
        </p:txBody>
      </p:sp>
      <p:sp>
        <p:nvSpPr>
          <p:cNvPr id="16" name="Text 14"/>
          <p:cNvSpPr/>
          <p:nvPr/>
        </p:nvSpPr>
        <p:spPr>
          <a:xfrm>
            <a:off x="2743200" y="4736592"/>
            <a:ext cx="8092440" cy="274320"/>
          </a:xfrm>
          <a:prstGeom prst="rect">
            <a:avLst/>
          </a:prstGeom>
          <a:noFill/>
          <a:ln/>
        </p:spPr>
        <p:txBody>
          <a:bodyPr wrap="square" lIns="0" tIns="0" rIns="0" bIns="0" rtlCol="0" anchor="ctr"/>
          <a:lstStyle/>
          <a:p>
            <a:pPr marL="0" indent="0">
              <a:buNone/>
            </a:pPr>
            <a:r>
              <a:rPr lang="en-US" sz="1250" dirty="0">
                <a:solidFill>
                  <a:srgbClr val="6B7280"/>
                </a:solidFill>
              </a:rPr>
              <a:t>Final demo: live jobs, a fast-lane test, an on-demand model service, and a worker failure.</a:t>
            </a:r>
            <a:endParaRPr lang="en-US" sz="1250" dirty="0"/>
          </a:p>
        </p:txBody>
      </p:sp>
      <p:sp>
        <p:nvSpPr>
          <p:cNvPr id="25" name="Slide Number Placeholder 0"/>
          <p:cNvSpPr>
            <a:spLocks noGrp="1"/>
          </p:cNvSpPr>
          <p:nvPr>
            <p:ph type="sldNum" sz="quarter" idx="4294967295"/>
          </p:nvPr>
        </p:nvSpPr>
        <p:spPr>
          <a:xfrm>
            <a:off x="11384280" y="6473952"/>
            <a:ext cx="32004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6B7280"/>
                </a:solidFill>
                <a:latin typeface="Aptos"/>
                <a:ea typeface="Aptos"/>
                <a:cs typeface="Aptos"/>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2445912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95E5D4D-B229-4644-8C54-AD47014A57E8}">
  <we:reference id="wa200010001" version="1.0.0.1" store="en-US" storeType="OMEX"/>
  <we:alternateReferences>
    <we:reference id="wa200010001" version="1.0.0.1" store="en-US" storeType="OMEX"/>
  </we:alternateReferences>
  <we:properties>
    <we:property name="claude.fileId" value="&quot;682a23c5-b20d-47fe-bc20-dfc54fbc160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98</TotalTime>
  <Words>1441</Words>
  <Application>Microsoft Office PowerPoint</Application>
  <PresentationFormat>寬螢幕</PresentationFormat>
  <Paragraphs>197</Paragraphs>
  <Slides>9</Slides>
  <Notes>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Microsoft JhengHei</vt:lpstr>
      <vt:lpstr>Aptos</vt:lpstr>
      <vt:lpstr>Aptos Display</vt: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National Chung Cheng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Resource Manager and Job Scheduler</dc:title>
  <dc:subject>Operating System Term Project</dc:subject>
  <dc:creator>OpenAI</dc:creator>
  <cp:lastModifiedBy>宸維 張</cp:lastModifiedBy>
  <cp:revision>119</cp:revision>
  <dcterms:created xsi:type="dcterms:W3CDTF">2026-09-28T14:21:23Z</dcterms:created>
  <dcterms:modified xsi:type="dcterms:W3CDTF">2026-09-28T19:02:15Z</dcterms:modified>
</cp:coreProperties>
</file>